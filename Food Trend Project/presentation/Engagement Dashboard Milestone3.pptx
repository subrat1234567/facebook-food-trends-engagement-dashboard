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embeddedFontLst>
    <p:embeddedFont>
      <p:font typeface="Quattrocento Sans" charset="-122" pitchFamily="34"/>
      <p:regular r:id="rId17"/>
    </p:embeddedFont>
    <p:embeddedFont>
      <p:font typeface="Liter" charset="-122" pitchFamily="34"/>
      <p:regular r:id="rId18"/>
    </p:embeddedFont>
    <p:embeddedFont>
      <p:font typeface="Hedvig Letters Sans" charset="-122" pitchFamily="34"/>
      <p:regular r:id="rId19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humbs.dreamstime.com/429abcb62ba1a2ec879a66f8b82cfb49927c9c60.jp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rcRect l="1444" r="1444" t="0" b="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1">
                  <a:alpha val="95000"/>
                </a:srgbClr>
              </a:gs>
              <a:gs pos="50000">
                <a:srgbClr val="1A1D21">
                  <a:alpha val="90000"/>
                </a:srgbClr>
              </a:gs>
              <a:gs pos="100000">
                <a:srgbClr val="3C6E71">
                  <a:alpha val="6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4810" y="1210627"/>
            <a:ext cx="2884170" cy="502920"/>
          </a:xfrm>
          <a:custGeom>
            <a:avLst/>
            <a:gdLst/>
            <a:ahLst/>
            <a:cxnLst/>
            <a:rect l="l" t="t" r="r" b="b"/>
            <a:pathLst>
              <a:path w="2884170" h="502920">
                <a:moveTo>
                  <a:pt x="76202" y="0"/>
                </a:moveTo>
                <a:lnTo>
                  <a:pt x="2807968" y="0"/>
                </a:lnTo>
                <a:cubicBezTo>
                  <a:pt x="2850053" y="0"/>
                  <a:pt x="2884170" y="34117"/>
                  <a:pt x="2884170" y="76202"/>
                </a:cubicBezTo>
                <a:lnTo>
                  <a:pt x="2884170" y="426718"/>
                </a:lnTo>
                <a:cubicBezTo>
                  <a:pt x="2884170" y="468803"/>
                  <a:pt x="2850053" y="502920"/>
                  <a:pt x="2807968" y="502920"/>
                </a:cubicBezTo>
                <a:lnTo>
                  <a:pt x="76202" y="502920"/>
                </a:lnTo>
                <a:cubicBezTo>
                  <a:pt x="34117" y="502920"/>
                  <a:pt x="0" y="468803"/>
                  <a:pt x="0" y="42671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3C6E71">
              <a:alpha val="30196"/>
            </a:srgbClr>
          </a:solidFill>
          <a:ln w="10160">
            <a:solidFill>
              <a:srgbClr val="3C6E7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17220" y="1366838"/>
            <a:ext cx="250305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spc="135" kern="0" dirty="0">
                <a:solidFill>
                  <a:srgbClr val="CFD7D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Group :3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2250758"/>
            <a:ext cx="117729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3F4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Facebook Food Trends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3F4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Engagement Dashboard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000" y="4193858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8" name="Text 5"/>
          <p:cNvSpPr/>
          <p:nvPr/>
        </p:nvSpPr>
        <p:spPr>
          <a:xfrm>
            <a:off x="381000" y="4536758"/>
            <a:ext cx="115728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3C6E71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Milestone 3 – Data Visualization using Power BI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381000" y="5032057"/>
            <a:ext cx="741045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This project analyzes Facebook engagement data related to different food categories, brands, post types, and posting times using Power BI dashboards.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7625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3C6E71"/>
          </a:solidFill>
          <a:ln/>
        </p:spPr>
      </p:sp>
      <p:sp>
        <p:nvSpPr>
          <p:cNvPr id="3" name="Shape 1"/>
          <p:cNvSpPr/>
          <p:nvPr/>
        </p:nvSpPr>
        <p:spPr>
          <a:xfrm>
            <a:off x="547688" y="62865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200025" y="91886"/>
                </a:moveTo>
                <a:cubicBezTo>
                  <a:pt x="193417" y="96262"/>
                  <a:pt x="185827" y="99789"/>
                  <a:pt x="177924" y="102602"/>
                </a:cubicBezTo>
                <a:cubicBezTo>
                  <a:pt x="156939" y="110103"/>
                  <a:pt x="129391" y="114300"/>
                  <a:pt x="100013" y="114300"/>
                </a:cubicBezTo>
                <a:cubicBezTo>
                  <a:pt x="70634" y="114300"/>
                  <a:pt x="43041" y="110058"/>
                  <a:pt x="22101" y="102602"/>
                </a:cubicBezTo>
                <a:cubicBezTo>
                  <a:pt x="14243" y="99789"/>
                  <a:pt x="6608" y="96262"/>
                  <a:pt x="0" y="91886"/>
                </a:cubicBezTo>
                <a:lnTo>
                  <a:pt x="0" y="128588"/>
                </a:lnTo>
                <a:cubicBezTo>
                  <a:pt x="0" y="148322"/>
                  <a:pt x="44782" y="164306"/>
                  <a:pt x="100013" y="164306"/>
                </a:cubicBezTo>
                <a:cubicBezTo>
                  <a:pt x="155243" y="164306"/>
                  <a:pt x="200025" y="148322"/>
                  <a:pt x="200025" y="128588"/>
                </a:cubicBezTo>
                <a:lnTo>
                  <a:pt x="200025" y="91886"/>
                </a:lnTo>
                <a:close/>
                <a:moveTo>
                  <a:pt x="200025" y="57150"/>
                </a:moveTo>
                <a:lnTo>
                  <a:pt x="200025" y="35719"/>
                </a:lnTo>
                <a:cubicBezTo>
                  <a:pt x="200025" y="15984"/>
                  <a:pt x="155243" y="0"/>
                  <a:pt x="100013" y="0"/>
                </a:cubicBezTo>
                <a:cubicBezTo>
                  <a:pt x="44782" y="0"/>
                  <a:pt x="0" y="15984"/>
                  <a:pt x="0" y="35719"/>
                </a:cubicBezTo>
                <a:lnTo>
                  <a:pt x="0" y="57150"/>
                </a:lnTo>
                <a:cubicBezTo>
                  <a:pt x="0" y="76885"/>
                  <a:pt x="44782" y="92869"/>
                  <a:pt x="100013" y="92869"/>
                </a:cubicBezTo>
                <a:cubicBezTo>
                  <a:pt x="155243" y="92869"/>
                  <a:pt x="200025" y="76885"/>
                  <a:pt x="200025" y="57150"/>
                </a:cubicBezTo>
                <a:close/>
                <a:moveTo>
                  <a:pt x="177924" y="174040"/>
                </a:moveTo>
                <a:cubicBezTo>
                  <a:pt x="156984" y="181496"/>
                  <a:pt x="129436" y="185738"/>
                  <a:pt x="100013" y="185738"/>
                </a:cubicBezTo>
                <a:cubicBezTo>
                  <a:pt x="70589" y="185738"/>
                  <a:pt x="43041" y="181496"/>
                  <a:pt x="22101" y="174040"/>
                </a:cubicBezTo>
                <a:cubicBezTo>
                  <a:pt x="14243" y="171227"/>
                  <a:pt x="6608" y="167700"/>
                  <a:pt x="0" y="163324"/>
                </a:cubicBezTo>
                <a:lnTo>
                  <a:pt x="0" y="192881"/>
                </a:lnTo>
                <a:cubicBezTo>
                  <a:pt x="0" y="212616"/>
                  <a:pt x="44782" y="228600"/>
                  <a:pt x="100013" y="228600"/>
                </a:cubicBezTo>
                <a:cubicBezTo>
                  <a:pt x="155243" y="228600"/>
                  <a:pt x="200025" y="212616"/>
                  <a:pt x="200025" y="192881"/>
                </a:cubicBezTo>
                <a:lnTo>
                  <a:pt x="200025" y="163324"/>
                </a:lnTo>
                <a:cubicBezTo>
                  <a:pt x="193417" y="167700"/>
                  <a:pt x="185827" y="171227"/>
                  <a:pt x="177924" y="174040"/>
                </a:cubicBezTo>
                <a:close/>
              </a:path>
            </a:pathLst>
          </a:custGeom>
          <a:solidFill>
            <a:srgbClr val="F3F4F6"/>
          </a:solidFill>
          <a:ln/>
        </p:spPr>
      </p:sp>
      <p:sp>
        <p:nvSpPr>
          <p:cNvPr id="4" name="Text 2"/>
          <p:cNvSpPr/>
          <p:nvPr/>
        </p:nvSpPr>
        <p:spPr>
          <a:xfrm>
            <a:off x="1066800" y="381000"/>
            <a:ext cx="3629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60" kern="0" dirty="0">
                <a:solidFill>
                  <a:srgbClr val="3C6E7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Understanding the Data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66800" y="647700"/>
            <a:ext cx="37814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F3F4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Dataset Overview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81000" y="1680686"/>
            <a:ext cx="7600950" cy="933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F3F4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</a:t>
            </a:r>
            <a:pPr>
              <a:lnSpc>
                <a:spcPct val="140000"/>
              </a:lnSpc>
            </a:pPr>
            <a:r>
              <a:rPr lang="en-US" sz="1500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Facebook Food Trends Engagement Dataset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F3F4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captures comprehensive social media interaction data across food-related content. This dataset enables deep analysis of how audiences engage with different types of food posts on Facebook.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84810" y="2917984"/>
            <a:ext cx="7494270" cy="3360420"/>
          </a:xfrm>
          <a:custGeom>
            <a:avLst/>
            <a:gdLst/>
            <a:ahLst/>
            <a:cxnLst/>
            <a:rect l="l" t="t" r="r" b="b"/>
            <a:pathLst>
              <a:path w="7494270" h="3360420">
                <a:moveTo>
                  <a:pt x="152395" y="0"/>
                </a:moveTo>
                <a:lnTo>
                  <a:pt x="7341875" y="0"/>
                </a:lnTo>
                <a:cubicBezTo>
                  <a:pt x="7426040" y="0"/>
                  <a:pt x="7494270" y="68230"/>
                  <a:pt x="7494270" y="152395"/>
                </a:cubicBezTo>
                <a:lnTo>
                  <a:pt x="7494270" y="3208025"/>
                </a:lnTo>
                <a:cubicBezTo>
                  <a:pt x="7494270" y="3292190"/>
                  <a:pt x="7426040" y="3360420"/>
                  <a:pt x="7341875" y="3360420"/>
                </a:cubicBezTo>
                <a:lnTo>
                  <a:pt x="152395" y="3360420"/>
                </a:lnTo>
                <a:cubicBezTo>
                  <a:pt x="68230" y="3360420"/>
                  <a:pt x="0" y="3292190"/>
                  <a:pt x="0" y="3208025"/>
                </a:cubicBezTo>
                <a:lnTo>
                  <a:pt x="0" y="152395"/>
                </a:lnTo>
                <a:cubicBezTo>
                  <a:pt x="0" y="68286"/>
                  <a:pt x="68286" y="0"/>
                  <a:pt x="152395" y="0"/>
                </a:cubicBezTo>
                <a:close/>
              </a:path>
            </a:pathLst>
          </a:custGeom>
          <a:solidFill>
            <a:srgbClr val="2A2E33"/>
          </a:solidFill>
          <a:ln w="10160">
            <a:solidFill>
              <a:srgbClr val="3C6E71">
                <a:alpha val="30196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7220" y="3150394"/>
            <a:ext cx="71151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spc="34" kern="0" dirty="0">
                <a:solidFill>
                  <a:srgbClr val="3C6E7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Engagement Metrics Analyzed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17220" y="3569494"/>
            <a:ext cx="3438525" cy="723900"/>
          </a:xfrm>
          <a:custGeom>
            <a:avLst/>
            <a:gdLst/>
            <a:ahLst/>
            <a:cxnLst/>
            <a:rect l="l" t="t" r="r" b="b"/>
            <a:pathLst>
              <a:path w="3438525" h="723900">
                <a:moveTo>
                  <a:pt x="114297" y="0"/>
                </a:moveTo>
                <a:lnTo>
                  <a:pt x="3324228" y="0"/>
                </a:lnTo>
                <a:cubicBezTo>
                  <a:pt x="3387353" y="0"/>
                  <a:pt x="3438525" y="51172"/>
                  <a:pt x="3438525" y="114297"/>
                </a:cubicBezTo>
                <a:lnTo>
                  <a:pt x="3438525" y="609603"/>
                </a:lnTo>
                <a:cubicBezTo>
                  <a:pt x="3438525" y="672728"/>
                  <a:pt x="3387353" y="723900"/>
                  <a:pt x="3324228" y="723900"/>
                </a:cubicBezTo>
                <a:lnTo>
                  <a:pt x="114297" y="723900"/>
                </a:lnTo>
                <a:cubicBezTo>
                  <a:pt x="51172" y="723900"/>
                  <a:pt x="0" y="672728"/>
                  <a:pt x="0" y="609603"/>
                </a:cubicBezTo>
                <a:lnTo>
                  <a:pt x="0" y="114297"/>
                </a:lnTo>
                <a:cubicBezTo>
                  <a:pt x="0" y="51172"/>
                  <a:pt x="51172" y="0"/>
                  <a:pt x="114297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10" name="Shape 8"/>
          <p:cNvSpPr/>
          <p:nvPr/>
        </p:nvSpPr>
        <p:spPr>
          <a:xfrm>
            <a:off x="769620" y="3740944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C6E71">
              <a:alpha val="2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902970" y="3855244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0" y="19050"/>
                </a:moveTo>
                <a:cubicBezTo>
                  <a:pt x="0" y="8543"/>
                  <a:pt x="8543" y="0"/>
                  <a:pt x="19050" y="0"/>
                </a:cubicBezTo>
                <a:lnTo>
                  <a:pt x="63550" y="0"/>
                </a:lnTo>
                <a:cubicBezTo>
                  <a:pt x="68610" y="0"/>
                  <a:pt x="73462" y="1994"/>
                  <a:pt x="77033" y="5566"/>
                </a:cubicBezTo>
                <a:lnTo>
                  <a:pt x="108734" y="37296"/>
                </a:lnTo>
                <a:cubicBezTo>
                  <a:pt x="112306" y="40868"/>
                  <a:pt x="114300" y="45720"/>
                  <a:pt x="114300" y="50780"/>
                </a:cubicBezTo>
                <a:lnTo>
                  <a:pt x="114300" y="133350"/>
                </a:lnTo>
                <a:cubicBezTo>
                  <a:pt x="114300" y="143857"/>
                  <a:pt x="105757" y="152400"/>
                  <a:pt x="95250" y="152400"/>
                </a:cubicBezTo>
                <a:lnTo>
                  <a:pt x="19050" y="152400"/>
                </a:lnTo>
                <a:cubicBezTo>
                  <a:pt x="8543" y="152400"/>
                  <a:pt x="0" y="143857"/>
                  <a:pt x="0" y="133350"/>
                </a:cubicBezTo>
                <a:lnTo>
                  <a:pt x="0" y="19050"/>
                </a:lnTo>
                <a:close/>
                <a:moveTo>
                  <a:pt x="61912" y="17413"/>
                </a:moveTo>
                <a:lnTo>
                  <a:pt x="61912" y="45244"/>
                </a:lnTo>
                <a:cubicBezTo>
                  <a:pt x="61912" y="49203"/>
                  <a:pt x="65097" y="52388"/>
                  <a:pt x="69056" y="52388"/>
                </a:cubicBezTo>
                <a:lnTo>
                  <a:pt x="96887" y="52388"/>
                </a:lnTo>
                <a:lnTo>
                  <a:pt x="61912" y="17413"/>
                </a:lnTo>
                <a:close/>
                <a:moveTo>
                  <a:pt x="35719" y="76200"/>
                </a:moveTo>
                <a:cubicBezTo>
                  <a:pt x="31760" y="76200"/>
                  <a:pt x="28575" y="79385"/>
                  <a:pt x="28575" y="83344"/>
                </a:cubicBezTo>
                <a:cubicBezTo>
                  <a:pt x="28575" y="87303"/>
                  <a:pt x="31760" y="90488"/>
                  <a:pt x="35719" y="90488"/>
                </a:cubicBezTo>
                <a:lnTo>
                  <a:pt x="78581" y="90488"/>
                </a:lnTo>
                <a:cubicBezTo>
                  <a:pt x="82540" y="90488"/>
                  <a:pt x="85725" y="87303"/>
                  <a:pt x="85725" y="83344"/>
                </a:cubicBezTo>
                <a:cubicBezTo>
                  <a:pt x="85725" y="79385"/>
                  <a:pt x="82540" y="76200"/>
                  <a:pt x="78581" y="76200"/>
                </a:cubicBezTo>
                <a:lnTo>
                  <a:pt x="35719" y="76200"/>
                </a:lnTo>
                <a:close/>
                <a:moveTo>
                  <a:pt x="35719" y="104775"/>
                </a:moveTo>
                <a:cubicBezTo>
                  <a:pt x="31760" y="104775"/>
                  <a:pt x="28575" y="107960"/>
                  <a:pt x="28575" y="111919"/>
                </a:cubicBezTo>
                <a:cubicBezTo>
                  <a:pt x="28575" y="115878"/>
                  <a:pt x="31760" y="119062"/>
                  <a:pt x="35719" y="119062"/>
                </a:cubicBezTo>
                <a:lnTo>
                  <a:pt x="78581" y="119062"/>
                </a:lnTo>
                <a:cubicBezTo>
                  <a:pt x="82540" y="119062"/>
                  <a:pt x="85725" y="115878"/>
                  <a:pt x="85725" y="111919"/>
                </a:cubicBezTo>
                <a:cubicBezTo>
                  <a:pt x="85725" y="107960"/>
                  <a:pt x="82540" y="104775"/>
                  <a:pt x="78581" y="104775"/>
                </a:cubicBezTo>
                <a:lnTo>
                  <a:pt x="35719" y="104775"/>
                </a:lnTo>
                <a:close/>
              </a:path>
            </a:pathLst>
          </a:custGeom>
          <a:solidFill>
            <a:srgbClr val="3C6E71"/>
          </a:solidFill>
          <a:ln/>
        </p:spPr>
      </p:sp>
      <p:sp>
        <p:nvSpPr>
          <p:cNvPr id="12" name="Text 10"/>
          <p:cNvSpPr/>
          <p:nvPr/>
        </p:nvSpPr>
        <p:spPr>
          <a:xfrm>
            <a:off x="1264920" y="3721894"/>
            <a:ext cx="781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Metric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64920" y="3912394"/>
            <a:ext cx="790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3F4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Total Posts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210050" y="3569494"/>
            <a:ext cx="3438525" cy="723900"/>
          </a:xfrm>
          <a:custGeom>
            <a:avLst/>
            <a:gdLst/>
            <a:ahLst/>
            <a:cxnLst/>
            <a:rect l="l" t="t" r="r" b="b"/>
            <a:pathLst>
              <a:path w="3438525" h="723900">
                <a:moveTo>
                  <a:pt x="114297" y="0"/>
                </a:moveTo>
                <a:lnTo>
                  <a:pt x="3324228" y="0"/>
                </a:lnTo>
                <a:cubicBezTo>
                  <a:pt x="3387353" y="0"/>
                  <a:pt x="3438525" y="51172"/>
                  <a:pt x="3438525" y="114297"/>
                </a:cubicBezTo>
                <a:lnTo>
                  <a:pt x="3438525" y="609603"/>
                </a:lnTo>
                <a:cubicBezTo>
                  <a:pt x="3438525" y="672728"/>
                  <a:pt x="3387353" y="723900"/>
                  <a:pt x="3324228" y="723900"/>
                </a:cubicBezTo>
                <a:lnTo>
                  <a:pt x="114297" y="723900"/>
                </a:lnTo>
                <a:cubicBezTo>
                  <a:pt x="51172" y="723900"/>
                  <a:pt x="0" y="672728"/>
                  <a:pt x="0" y="609603"/>
                </a:cubicBezTo>
                <a:lnTo>
                  <a:pt x="0" y="114297"/>
                </a:lnTo>
                <a:cubicBezTo>
                  <a:pt x="0" y="51172"/>
                  <a:pt x="51172" y="0"/>
                  <a:pt x="114297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15" name="Shape 13"/>
          <p:cNvSpPr/>
          <p:nvPr/>
        </p:nvSpPr>
        <p:spPr>
          <a:xfrm>
            <a:off x="4362450" y="3740944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D97706">
              <a:alpha val="2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4476750" y="3855244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1735" y="25926"/>
                </a:moveTo>
                <a:lnTo>
                  <a:pt x="76200" y="32087"/>
                </a:lnTo>
                <a:lnTo>
                  <a:pt x="80665" y="25926"/>
                </a:lnTo>
                <a:cubicBezTo>
                  <a:pt x="88106" y="15627"/>
                  <a:pt x="100072" y="9525"/>
                  <a:pt x="112782" y="9525"/>
                </a:cubicBezTo>
                <a:cubicBezTo>
                  <a:pt x="134660" y="9525"/>
                  <a:pt x="152400" y="27265"/>
                  <a:pt x="152400" y="49143"/>
                </a:cubicBezTo>
                <a:lnTo>
                  <a:pt x="152400" y="49917"/>
                </a:lnTo>
                <a:cubicBezTo>
                  <a:pt x="152400" y="83314"/>
                  <a:pt x="110758" y="122099"/>
                  <a:pt x="89029" y="138678"/>
                </a:cubicBezTo>
                <a:cubicBezTo>
                  <a:pt x="85338" y="141476"/>
                  <a:pt x="80814" y="142875"/>
                  <a:pt x="76200" y="142875"/>
                </a:cubicBezTo>
                <a:cubicBezTo>
                  <a:pt x="71586" y="142875"/>
                  <a:pt x="67032" y="141506"/>
                  <a:pt x="63371" y="138678"/>
                </a:cubicBezTo>
                <a:cubicBezTo>
                  <a:pt x="41642" y="122099"/>
                  <a:pt x="0" y="83314"/>
                  <a:pt x="0" y="49917"/>
                </a:cubicBezTo>
                <a:lnTo>
                  <a:pt x="0" y="49143"/>
                </a:lnTo>
                <a:cubicBezTo>
                  <a:pt x="0" y="27265"/>
                  <a:pt x="17740" y="9525"/>
                  <a:pt x="39618" y="9525"/>
                </a:cubicBezTo>
                <a:cubicBezTo>
                  <a:pt x="52328" y="9525"/>
                  <a:pt x="64294" y="15627"/>
                  <a:pt x="71735" y="25926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17" name="Text 15"/>
          <p:cNvSpPr/>
          <p:nvPr/>
        </p:nvSpPr>
        <p:spPr>
          <a:xfrm>
            <a:off x="4857750" y="3721894"/>
            <a:ext cx="1247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Metric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857750" y="3912394"/>
            <a:ext cx="1257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3F4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Total Engagement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17220" y="4445794"/>
            <a:ext cx="3438525" cy="723900"/>
          </a:xfrm>
          <a:custGeom>
            <a:avLst/>
            <a:gdLst/>
            <a:ahLst/>
            <a:cxnLst/>
            <a:rect l="l" t="t" r="r" b="b"/>
            <a:pathLst>
              <a:path w="3438525" h="723900">
                <a:moveTo>
                  <a:pt x="114297" y="0"/>
                </a:moveTo>
                <a:lnTo>
                  <a:pt x="3324228" y="0"/>
                </a:lnTo>
                <a:cubicBezTo>
                  <a:pt x="3387353" y="0"/>
                  <a:pt x="3438525" y="51172"/>
                  <a:pt x="3438525" y="114297"/>
                </a:cubicBezTo>
                <a:lnTo>
                  <a:pt x="3438525" y="609603"/>
                </a:lnTo>
                <a:cubicBezTo>
                  <a:pt x="3438525" y="672728"/>
                  <a:pt x="3387353" y="723900"/>
                  <a:pt x="3324228" y="723900"/>
                </a:cubicBezTo>
                <a:lnTo>
                  <a:pt x="114297" y="723900"/>
                </a:lnTo>
                <a:cubicBezTo>
                  <a:pt x="51172" y="723900"/>
                  <a:pt x="0" y="672728"/>
                  <a:pt x="0" y="609603"/>
                </a:cubicBezTo>
                <a:lnTo>
                  <a:pt x="0" y="114297"/>
                </a:lnTo>
                <a:cubicBezTo>
                  <a:pt x="0" y="51172"/>
                  <a:pt x="51172" y="0"/>
                  <a:pt x="114297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20" name="Shape 18"/>
          <p:cNvSpPr/>
          <p:nvPr/>
        </p:nvSpPr>
        <p:spPr>
          <a:xfrm>
            <a:off x="769620" y="4617244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C6E71">
              <a:alpha val="2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883920" y="4731544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23813" y="47625"/>
                </a:moveTo>
                <a:cubicBezTo>
                  <a:pt x="29081" y="47625"/>
                  <a:pt x="33338" y="51881"/>
                  <a:pt x="33338" y="57150"/>
                </a:cubicBezTo>
                <a:lnTo>
                  <a:pt x="33338" y="133350"/>
                </a:lnTo>
                <a:cubicBezTo>
                  <a:pt x="33338" y="138619"/>
                  <a:pt x="29081" y="142875"/>
                  <a:pt x="23813" y="142875"/>
                </a:cubicBezTo>
                <a:lnTo>
                  <a:pt x="9525" y="142875"/>
                </a:lnTo>
                <a:cubicBezTo>
                  <a:pt x="4256" y="142875"/>
                  <a:pt x="0" y="138619"/>
                  <a:pt x="0" y="133350"/>
                </a:cubicBezTo>
                <a:lnTo>
                  <a:pt x="0" y="57150"/>
                </a:lnTo>
                <a:cubicBezTo>
                  <a:pt x="0" y="51881"/>
                  <a:pt x="4256" y="47625"/>
                  <a:pt x="9525" y="47625"/>
                </a:cubicBezTo>
                <a:lnTo>
                  <a:pt x="23813" y="47625"/>
                </a:lnTo>
                <a:close/>
                <a:moveTo>
                  <a:pt x="80546" y="4763"/>
                </a:moveTo>
                <a:cubicBezTo>
                  <a:pt x="88672" y="4763"/>
                  <a:pt x="95250" y="11341"/>
                  <a:pt x="95250" y="19467"/>
                </a:cubicBezTo>
                <a:lnTo>
                  <a:pt x="95250" y="20717"/>
                </a:lnTo>
                <a:cubicBezTo>
                  <a:pt x="95250" y="22741"/>
                  <a:pt x="94863" y="24765"/>
                  <a:pt x="94119" y="26640"/>
                </a:cubicBezTo>
                <a:lnTo>
                  <a:pt x="85725" y="47625"/>
                </a:lnTo>
                <a:lnTo>
                  <a:pt x="133350" y="47625"/>
                </a:lnTo>
                <a:cubicBezTo>
                  <a:pt x="141238" y="47625"/>
                  <a:pt x="147638" y="54025"/>
                  <a:pt x="147638" y="61912"/>
                </a:cubicBezTo>
                <a:cubicBezTo>
                  <a:pt x="147638" y="67776"/>
                  <a:pt x="144095" y="72807"/>
                  <a:pt x="139035" y="75009"/>
                </a:cubicBezTo>
                <a:cubicBezTo>
                  <a:pt x="144095" y="77212"/>
                  <a:pt x="147638" y="82242"/>
                  <a:pt x="147638" y="88106"/>
                </a:cubicBezTo>
                <a:cubicBezTo>
                  <a:pt x="147638" y="95071"/>
                  <a:pt x="142637" y="100876"/>
                  <a:pt x="136029" y="102126"/>
                </a:cubicBezTo>
                <a:cubicBezTo>
                  <a:pt x="137339" y="104299"/>
                  <a:pt x="138113" y="106829"/>
                  <a:pt x="138113" y="109537"/>
                </a:cubicBezTo>
                <a:cubicBezTo>
                  <a:pt x="138113" y="116145"/>
                  <a:pt x="133648" y="121682"/>
                  <a:pt x="127575" y="123319"/>
                </a:cubicBezTo>
                <a:cubicBezTo>
                  <a:pt x="128230" y="124956"/>
                  <a:pt x="128588" y="126742"/>
                  <a:pt x="128588" y="128588"/>
                </a:cubicBezTo>
                <a:cubicBezTo>
                  <a:pt x="128588" y="136475"/>
                  <a:pt x="122188" y="142875"/>
                  <a:pt x="114300" y="142875"/>
                </a:cubicBezTo>
                <a:lnTo>
                  <a:pt x="88136" y="142875"/>
                </a:lnTo>
                <a:cubicBezTo>
                  <a:pt x="77331" y="142875"/>
                  <a:pt x="66824" y="139184"/>
                  <a:pt x="58400" y="132427"/>
                </a:cubicBezTo>
                <a:lnTo>
                  <a:pt x="54769" y="129540"/>
                </a:lnTo>
                <a:cubicBezTo>
                  <a:pt x="50244" y="125938"/>
                  <a:pt x="47625" y="120461"/>
                  <a:pt x="47625" y="114657"/>
                </a:cubicBezTo>
                <a:lnTo>
                  <a:pt x="47625" y="59115"/>
                </a:lnTo>
                <a:cubicBezTo>
                  <a:pt x="47625" y="54679"/>
                  <a:pt x="48667" y="50304"/>
                  <a:pt x="50631" y="46345"/>
                </a:cubicBezTo>
                <a:lnTo>
                  <a:pt x="67360" y="12889"/>
                </a:lnTo>
                <a:cubicBezTo>
                  <a:pt x="69860" y="7918"/>
                  <a:pt x="74950" y="4763"/>
                  <a:pt x="80546" y="4763"/>
                </a:cubicBezTo>
                <a:close/>
              </a:path>
            </a:pathLst>
          </a:custGeom>
          <a:solidFill>
            <a:srgbClr val="3C6E71"/>
          </a:solidFill>
          <a:ln/>
        </p:spPr>
      </p:sp>
      <p:sp>
        <p:nvSpPr>
          <p:cNvPr id="22" name="Text 20"/>
          <p:cNvSpPr/>
          <p:nvPr/>
        </p:nvSpPr>
        <p:spPr>
          <a:xfrm>
            <a:off x="1264920" y="4598194"/>
            <a:ext cx="438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Metric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64920" y="4788694"/>
            <a:ext cx="447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3F4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Likes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210050" y="4445794"/>
            <a:ext cx="3438525" cy="723900"/>
          </a:xfrm>
          <a:custGeom>
            <a:avLst/>
            <a:gdLst/>
            <a:ahLst/>
            <a:cxnLst/>
            <a:rect l="l" t="t" r="r" b="b"/>
            <a:pathLst>
              <a:path w="3438525" h="723900">
                <a:moveTo>
                  <a:pt x="114297" y="0"/>
                </a:moveTo>
                <a:lnTo>
                  <a:pt x="3324228" y="0"/>
                </a:lnTo>
                <a:cubicBezTo>
                  <a:pt x="3387353" y="0"/>
                  <a:pt x="3438525" y="51172"/>
                  <a:pt x="3438525" y="114297"/>
                </a:cubicBezTo>
                <a:lnTo>
                  <a:pt x="3438525" y="609603"/>
                </a:lnTo>
                <a:cubicBezTo>
                  <a:pt x="3438525" y="672728"/>
                  <a:pt x="3387353" y="723900"/>
                  <a:pt x="3324228" y="723900"/>
                </a:cubicBezTo>
                <a:lnTo>
                  <a:pt x="114297" y="723900"/>
                </a:lnTo>
                <a:cubicBezTo>
                  <a:pt x="51172" y="723900"/>
                  <a:pt x="0" y="672728"/>
                  <a:pt x="0" y="609603"/>
                </a:cubicBezTo>
                <a:lnTo>
                  <a:pt x="0" y="114297"/>
                </a:lnTo>
                <a:cubicBezTo>
                  <a:pt x="0" y="51172"/>
                  <a:pt x="51172" y="0"/>
                  <a:pt x="114297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25" name="Shape 23"/>
          <p:cNvSpPr/>
          <p:nvPr/>
        </p:nvSpPr>
        <p:spPr>
          <a:xfrm>
            <a:off x="4362450" y="4617244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D97706">
              <a:alpha val="2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4476750" y="4731544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52400" y="71438"/>
                </a:moveTo>
                <a:cubicBezTo>
                  <a:pt x="152400" y="110877"/>
                  <a:pt x="118289" y="142875"/>
                  <a:pt x="76200" y="142875"/>
                </a:cubicBezTo>
                <a:cubicBezTo>
                  <a:pt x="65157" y="142875"/>
                  <a:pt x="54679" y="140672"/>
                  <a:pt x="45214" y="136714"/>
                </a:cubicBezTo>
                <a:lnTo>
                  <a:pt x="9971" y="151834"/>
                </a:lnTo>
                <a:cubicBezTo>
                  <a:pt x="7174" y="153025"/>
                  <a:pt x="3959" y="152340"/>
                  <a:pt x="1905" y="150108"/>
                </a:cubicBezTo>
                <a:cubicBezTo>
                  <a:pt x="-149" y="147876"/>
                  <a:pt x="-595" y="144601"/>
                  <a:pt x="833" y="141923"/>
                </a:cubicBezTo>
                <a:lnTo>
                  <a:pt x="15359" y="114479"/>
                </a:lnTo>
                <a:cubicBezTo>
                  <a:pt x="5715" y="102483"/>
                  <a:pt x="0" y="87600"/>
                  <a:pt x="0" y="71438"/>
                </a:cubicBezTo>
                <a:cubicBezTo>
                  <a:pt x="0" y="31998"/>
                  <a:pt x="34111" y="0"/>
                  <a:pt x="76200" y="0"/>
                </a:cubicBezTo>
                <a:cubicBezTo>
                  <a:pt x="118289" y="0"/>
                  <a:pt x="152400" y="31998"/>
                  <a:pt x="152400" y="71438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27" name="Text 25"/>
          <p:cNvSpPr/>
          <p:nvPr/>
        </p:nvSpPr>
        <p:spPr>
          <a:xfrm>
            <a:off x="4857750" y="4598194"/>
            <a:ext cx="790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Metric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857750" y="4788694"/>
            <a:ext cx="800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3F4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Comments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17220" y="5322094"/>
            <a:ext cx="7029450" cy="723900"/>
          </a:xfrm>
          <a:custGeom>
            <a:avLst/>
            <a:gdLst/>
            <a:ahLst/>
            <a:cxnLst/>
            <a:rect l="l" t="t" r="r" b="b"/>
            <a:pathLst>
              <a:path w="7029450" h="723900">
                <a:moveTo>
                  <a:pt x="114297" y="0"/>
                </a:moveTo>
                <a:lnTo>
                  <a:pt x="6915153" y="0"/>
                </a:lnTo>
                <a:cubicBezTo>
                  <a:pt x="6978278" y="0"/>
                  <a:pt x="7029450" y="51172"/>
                  <a:pt x="7029450" y="114297"/>
                </a:cubicBezTo>
                <a:lnTo>
                  <a:pt x="7029450" y="609603"/>
                </a:lnTo>
                <a:cubicBezTo>
                  <a:pt x="7029450" y="672728"/>
                  <a:pt x="6978278" y="723900"/>
                  <a:pt x="6915153" y="723900"/>
                </a:cubicBezTo>
                <a:lnTo>
                  <a:pt x="114297" y="723900"/>
                </a:lnTo>
                <a:cubicBezTo>
                  <a:pt x="51172" y="723900"/>
                  <a:pt x="0" y="672728"/>
                  <a:pt x="0" y="609603"/>
                </a:cubicBezTo>
                <a:lnTo>
                  <a:pt x="0" y="114297"/>
                </a:lnTo>
                <a:cubicBezTo>
                  <a:pt x="0" y="51172"/>
                  <a:pt x="51172" y="0"/>
                  <a:pt x="114297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30" name="Shape 28"/>
          <p:cNvSpPr/>
          <p:nvPr/>
        </p:nvSpPr>
        <p:spPr>
          <a:xfrm>
            <a:off x="769620" y="5493544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C6E71">
              <a:alpha val="2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883920" y="5607844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91619" y="5477"/>
                </a:moveTo>
                <a:cubicBezTo>
                  <a:pt x="88047" y="6965"/>
                  <a:pt x="85725" y="10418"/>
                  <a:pt x="85725" y="14288"/>
                </a:cubicBezTo>
                <a:lnTo>
                  <a:pt x="85725" y="38100"/>
                </a:lnTo>
                <a:lnTo>
                  <a:pt x="52388" y="38100"/>
                </a:lnTo>
                <a:cubicBezTo>
                  <a:pt x="23455" y="38100"/>
                  <a:pt x="0" y="61555"/>
                  <a:pt x="0" y="90488"/>
                </a:cubicBezTo>
                <a:cubicBezTo>
                  <a:pt x="0" y="124212"/>
                  <a:pt x="24259" y="139273"/>
                  <a:pt x="29825" y="142309"/>
                </a:cubicBezTo>
                <a:cubicBezTo>
                  <a:pt x="30569" y="142726"/>
                  <a:pt x="31403" y="142875"/>
                  <a:pt x="32236" y="142875"/>
                </a:cubicBezTo>
                <a:cubicBezTo>
                  <a:pt x="35481" y="142875"/>
                  <a:pt x="38100" y="140226"/>
                  <a:pt x="38100" y="137011"/>
                </a:cubicBezTo>
                <a:cubicBezTo>
                  <a:pt x="38100" y="134779"/>
                  <a:pt x="36820" y="132725"/>
                  <a:pt x="35183" y="131207"/>
                </a:cubicBezTo>
                <a:cubicBezTo>
                  <a:pt x="32385" y="128588"/>
                  <a:pt x="28575" y="123349"/>
                  <a:pt x="28575" y="114330"/>
                </a:cubicBezTo>
                <a:cubicBezTo>
                  <a:pt x="28575" y="98554"/>
                  <a:pt x="41374" y="85755"/>
                  <a:pt x="57150" y="85755"/>
                </a:cubicBezTo>
                <a:lnTo>
                  <a:pt x="85725" y="85755"/>
                </a:lnTo>
                <a:lnTo>
                  <a:pt x="85725" y="109567"/>
                </a:lnTo>
                <a:cubicBezTo>
                  <a:pt x="85725" y="113407"/>
                  <a:pt x="88047" y="116890"/>
                  <a:pt x="91619" y="118378"/>
                </a:cubicBezTo>
                <a:cubicBezTo>
                  <a:pt x="95190" y="119866"/>
                  <a:pt x="99268" y="119033"/>
                  <a:pt x="102007" y="116324"/>
                </a:cubicBezTo>
                <a:lnTo>
                  <a:pt x="149632" y="68699"/>
                </a:lnTo>
                <a:cubicBezTo>
                  <a:pt x="153353" y="64978"/>
                  <a:pt x="153353" y="58936"/>
                  <a:pt x="149632" y="55215"/>
                </a:cubicBezTo>
                <a:lnTo>
                  <a:pt x="102007" y="7590"/>
                </a:lnTo>
                <a:cubicBezTo>
                  <a:pt x="99268" y="4852"/>
                  <a:pt x="95190" y="4048"/>
                  <a:pt x="91619" y="5536"/>
                </a:cubicBezTo>
                <a:close/>
              </a:path>
            </a:pathLst>
          </a:custGeom>
          <a:solidFill>
            <a:srgbClr val="3C6E71"/>
          </a:solidFill>
          <a:ln/>
        </p:spPr>
      </p:sp>
      <p:sp>
        <p:nvSpPr>
          <p:cNvPr id="32" name="Text 30"/>
          <p:cNvSpPr/>
          <p:nvPr/>
        </p:nvSpPr>
        <p:spPr>
          <a:xfrm>
            <a:off x="1264920" y="5474494"/>
            <a:ext cx="514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Metric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264920" y="5664994"/>
            <a:ext cx="523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3F4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Shares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195310" y="2595325"/>
            <a:ext cx="3608070" cy="2769870"/>
          </a:xfrm>
          <a:custGeom>
            <a:avLst/>
            <a:gdLst/>
            <a:ahLst/>
            <a:cxnLst/>
            <a:rect l="l" t="t" r="r" b="b"/>
            <a:pathLst>
              <a:path w="3608070" h="2769870">
                <a:moveTo>
                  <a:pt x="152398" y="0"/>
                </a:moveTo>
                <a:lnTo>
                  <a:pt x="3455672" y="0"/>
                </a:lnTo>
                <a:cubicBezTo>
                  <a:pt x="3539839" y="0"/>
                  <a:pt x="3608070" y="68231"/>
                  <a:pt x="3608070" y="152398"/>
                </a:cubicBezTo>
                <a:lnTo>
                  <a:pt x="3608070" y="2617472"/>
                </a:lnTo>
                <a:cubicBezTo>
                  <a:pt x="3608070" y="2701639"/>
                  <a:pt x="3539839" y="2769870"/>
                  <a:pt x="3455672" y="2769870"/>
                </a:cubicBezTo>
                <a:lnTo>
                  <a:pt x="152398" y="2769870"/>
                </a:lnTo>
                <a:cubicBezTo>
                  <a:pt x="68231" y="2769870"/>
                  <a:pt x="0" y="2701639"/>
                  <a:pt x="0" y="2617472"/>
                </a:cubicBezTo>
                <a:lnTo>
                  <a:pt x="0" y="152398"/>
                </a:lnTo>
                <a:cubicBezTo>
                  <a:pt x="0" y="68287"/>
                  <a:pt x="68287" y="0"/>
                  <a:pt x="152398" y="0"/>
                </a:cubicBezTo>
                <a:close/>
              </a:path>
            </a:pathLst>
          </a:custGeom>
          <a:gradFill rotWithShape="1" flip="none">
            <a:gsLst>
              <a:gs pos="0">
                <a:srgbClr val="3C6E71">
                  <a:alpha val="20000"/>
                </a:srgbClr>
              </a:gs>
              <a:gs pos="100000">
                <a:srgbClr val="D97706">
                  <a:alpha val="10000"/>
                </a:srgbClr>
              </a:gs>
            </a:gsLst>
            <a:lin ang="2700000" scaled="1"/>
          </a:gradFill>
          <a:ln w="10160">
            <a:solidFill>
              <a:srgbClr val="3C6E71">
                <a:alpha val="4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503920" y="2903934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36" name="Shape 34"/>
          <p:cNvSpPr/>
          <p:nvPr/>
        </p:nvSpPr>
        <p:spPr>
          <a:xfrm>
            <a:off x="8656320" y="3056334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00025" y="114300"/>
                </a:moveTo>
                <a:cubicBezTo>
                  <a:pt x="200025" y="66987"/>
                  <a:pt x="161613" y="28575"/>
                  <a:pt x="114300" y="28575"/>
                </a:cubicBezTo>
                <a:cubicBezTo>
                  <a:pt x="66987" y="28575"/>
                  <a:pt x="28575" y="66987"/>
                  <a:pt x="28575" y="114300"/>
                </a:cubicBezTo>
                <a:cubicBezTo>
                  <a:pt x="28575" y="161613"/>
                  <a:pt x="66987" y="200025"/>
                  <a:pt x="114300" y="200025"/>
                </a:cubicBezTo>
                <a:cubicBezTo>
                  <a:pt x="161613" y="200025"/>
                  <a:pt x="200025" y="161613"/>
                  <a:pt x="200025" y="114300"/>
                </a:cubicBezTo>
                <a:close/>
                <a:moveTo>
                  <a:pt x="0" y="114300"/>
                </a:moveTo>
                <a:cubicBezTo>
                  <a:pt x="0" y="51216"/>
                  <a:pt x="51216" y="0"/>
                  <a:pt x="114300" y="0"/>
                </a:cubicBezTo>
                <a:cubicBezTo>
                  <a:pt x="177384" y="0"/>
                  <a:pt x="228600" y="51216"/>
                  <a:pt x="228600" y="114300"/>
                </a:cubicBezTo>
                <a:cubicBezTo>
                  <a:pt x="228600" y="177384"/>
                  <a:pt x="177384" y="228600"/>
                  <a:pt x="114300" y="228600"/>
                </a:cubicBezTo>
                <a:cubicBezTo>
                  <a:pt x="51216" y="228600"/>
                  <a:pt x="0" y="177384"/>
                  <a:pt x="0" y="114300"/>
                </a:cubicBezTo>
                <a:close/>
                <a:moveTo>
                  <a:pt x="114300" y="150019"/>
                </a:moveTo>
                <a:cubicBezTo>
                  <a:pt x="134014" y="150019"/>
                  <a:pt x="150019" y="134014"/>
                  <a:pt x="150019" y="114300"/>
                </a:cubicBezTo>
                <a:cubicBezTo>
                  <a:pt x="150019" y="94586"/>
                  <a:pt x="134014" y="78581"/>
                  <a:pt x="114300" y="78581"/>
                </a:cubicBezTo>
                <a:cubicBezTo>
                  <a:pt x="94586" y="78581"/>
                  <a:pt x="78581" y="94586"/>
                  <a:pt x="78581" y="114300"/>
                </a:cubicBezTo>
                <a:cubicBezTo>
                  <a:pt x="78581" y="134014"/>
                  <a:pt x="94586" y="150019"/>
                  <a:pt x="114300" y="150019"/>
                </a:cubicBezTo>
                <a:close/>
                <a:moveTo>
                  <a:pt x="114300" y="50006"/>
                </a:moveTo>
                <a:cubicBezTo>
                  <a:pt x="149785" y="50006"/>
                  <a:pt x="178594" y="78815"/>
                  <a:pt x="178594" y="114300"/>
                </a:cubicBezTo>
                <a:cubicBezTo>
                  <a:pt x="178594" y="149785"/>
                  <a:pt x="149785" y="178594"/>
                  <a:pt x="114300" y="178594"/>
                </a:cubicBezTo>
                <a:cubicBezTo>
                  <a:pt x="78815" y="178594"/>
                  <a:pt x="50006" y="149785"/>
                  <a:pt x="50006" y="114300"/>
                </a:cubicBezTo>
                <a:cubicBezTo>
                  <a:pt x="50006" y="78815"/>
                  <a:pt x="78815" y="50006"/>
                  <a:pt x="114300" y="50006"/>
                </a:cubicBezTo>
                <a:close/>
                <a:moveTo>
                  <a:pt x="100013" y="114300"/>
                </a:moveTo>
                <a:cubicBezTo>
                  <a:pt x="100013" y="106415"/>
                  <a:pt x="106415" y="100013"/>
                  <a:pt x="114300" y="100013"/>
                </a:cubicBezTo>
                <a:cubicBezTo>
                  <a:pt x="122185" y="100013"/>
                  <a:pt x="128588" y="106415"/>
                  <a:pt x="128588" y="114300"/>
                </a:cubicBezTo>
                <a:cubicBezTo>
                  <a:pt x="128588" y="122185"/>
                  <a:pt x="122185" y="128588"/>
                  <a:pt x="114300" y="128588"/>
                </a:cubicBezTo>
                <a:cubicBezTo>
                  <a:pt x="106415" y="128588"/>
                  <a:pt x="100013" y="122185"/>
                  <a:pt x="100013" y="11430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37" name="Text 35"/>
          <p:cNvSpPr/>
          <p:nvPr/>
        </p:nvSpPr>
        <p:spPr>
          <a:xfrm>
            <a:off x="9189720" y="2903934"/>
            <a:ext cx="1333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3F4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Goal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503920" y="3665934"/>
            <a:ext cx="3076575" cy="1390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F3F4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Identify patterns in </a:t>
            </a:r>
            <a:pPr>
              <a:lnSpc>
                <a:spcPct val="140000"/>
              </a:lnSpc>
            </a:pPr>
            <a:r>
              <a:rPr lang="en-US" sz="1350" dirty="0">
                <a:solidFill>
                  <a:srgbClr val="F3F4F6"/>
                </a:solidFill>
                <a:highlight>
                  <a:srgbClr val="D97706">
                    <a:alpha val="3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audience interaction </a:t>
            </a:r>
            <a:pPr>
              <a:lnSpc>
                <a:spcPct val="140000"/>
              </a:lnSpc>
            </a:pPr>
            <a:r>
              <a:rPr lang="en-US" sz="1350" dirty="0">
                <a:solidFill>
                  <a:srgbClr val="F3F4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with food-related social media posts to understand what drives engagement and optimize content strategies.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572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3C6E71"/>
          </a:solidFill>
          <a:ln/>
        </p:spPr>
      </p:sp>
      <p:sp>
        <p:nvSpPr>
          <p:cNvPr id="3" name="Shape 1"/>
          <p:cNvSpPr/>
          <p:nvPr/>
        </p:nvSpPr>
        <p:spPr>
          <a:xfrm>
            <a:off x="514350" y="5905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23812"/>
                </a:moveTo>
                <a:cubicBezTo>
                  <a:pt x="23812" y="17227"/>
                  <a:pt x="18492" y="11906"/>
                  <a:pt x="11906" y="11906"/>
                </a:cubicBezTo>
                <a:cubicBezTo>
                  <a:pt x="5321" y="11906"/>
                  <a:pt x="0" y="17227"/>
                  <a:pt x="0" y="23812"/>
                </a:cubicBezTo>
                <a:lnTo>
                  <a:pt x="0" y="148828"/>
                </a:lnTo>
                <a:cubicBezTo>
                  <a:pt x="0" y="165274"/>
                  <a:pt x="13320" y="178594"/>
                  <a:pt x="29766" y="178594"/>
                </a:cubicBezTo>
                <a:lnTo>
                  <a:pt x="178594" y="178594"/>
                </a:lnTo>
                <a:cubicBezTo>
                  <a:pt x="185179" y="178594"/>
                  <a:pt x="190500" y="173273"/>
                  <a:pt x="190500" y="166688"/>
                </a:cubicBezTo>
                <a:cubicBezTo>
                  <a:pt x="190500" y="160102"/>
                  <a:pt x="185179" y="154781"/>
                  <a:pt x="178594" y="154781"/>
                </a:cubicBezTo>
                <a:lnTo>
                  <a:pt x="29766" y="154781"/>
                </a:lnTo>
                <a:cubicBezTo>
                  <a:pt x="26491" y="154781"/>
                  <a:pt x="23812" y="152102"/>
                  <a:pt x="23812" y="148828"/>
                </a:cubicBezTo>
                <a:lnTo>
                  <a:pt x="23812" y="23812"/>
                </a:lnTo>
                <a:close/>
                <a:moveTo>
                  <a:pt x="175096" y="56034"/>
                </a:moveTo>
                <a:cubicBezTo>
                  <a:pt x="179747" y="51383"/>
                  <a:pt x="179747" y="43830"/>
                  <a:pt x="175096" y="39179"/>
                </a:cubicBezTo>
                <a:cubicBezTo>
                  <a:pt x="170445" y="34528"/>
                  <a:pt x="162892" y="34528"/>
                  <a:pt x="158242" y="39179"/>
                </a:cubicBezTo>
                <a:lnTo>
                  <a:pt x="119063" y="78395"/>
                </a:lnTo>
                <a:lnTo>
                  <a:pt x="97706" y="57076"/>
                </a:lnTo>
                <a:cubicBezTo>
                  <a:pt x="93055" y="52425"/>
                  <a:pt x="85502" y="52425"/>
                  <a:pt x="80851" y="57076"/>
                </a:cubicBezTo>
                <a:lnTo>
                  <a:pt x="45132" y="92794"/>
                </a:lnTo>
                <a:cubicBezTo>
                  <a:pt x="40481" y="97445"/>
                  <a:pt x="40481" y="104998"/>
                  <a:pt x="45132" y="109649"/>
                </a:cubicBezTo>
                <a:cubicBezTo>
                  <a:pt x="49783" y="114300"/>
                  <a:pt x="57336" y="114300"/>
                  <a:pt x="61987" y="109649"/>
                </a:cubicBezTo>
                <a:lnTo>
                  <a:pt x="89297" y="82339"/>
                </a:lnTo>
                <a:lnTo>
                  <a:pt x="110654" y="103696"/>
                </a:lnTo>
                <a:cubicBezTo>
                  <a:pt x="115305" y="108347"/>
                  <a:pt x="122858" y="108347"/>
                  <a:pt x="127508" y="103696"/>
                </a:cubicBezTo>
                <a:lnTo>
                  <a:pt x="175133" y="56071"/>
                </a:lnTo>
                <a:close/>
              </a:path>
            </a:pathLst>
          </a:custGeom>
          <a:solidFill>
            <a:srgbClr val="F3F4F6"/>
          </a:solidFill>
          <a:ln/>
        </p:spPr>
      </p:sp>
      <p:sp>
        <p:nvSpPr>
          <p:cNvPr id="4" name="Text 2"/>
          <p:cNvSpPr/>
          <p:nvPr/>
        </p:nvSpPr>
        <p:spPr>
          <a:xfrm>
            <a:off x="990600" y="381000"/>
            <a:ext cx="3219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60" kern="0" dirty="0">
                <a:solidFill>
                  <a:srgbClr val="3C6E7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Interactive Analytics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90600" y="609600"/>
            <a:ext cx="33147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3F4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Dashboard Overview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4810" y="1223010"/>
            <a:ext cx="11418570" cy="874395"/>
          </a:xfrm>
          <a:custGeom>
            <a:avLst/>
            <a:gdLst/>
            <a:ahLst/>
            <a:cxnLst/>
            <a:rect l="l" t="t" r="r" b="b"/>
            <a:pathLst>
              <a:path w="11418570" h="874395">
                <a:moveTo>
                  <a:pt x="114301" y="0"/>
                </a:moveTo>
                <a:lnTo>
                  <a:pt x="11304269" y="0"/>
                </a:lnTo>
                <a:cubicBezTo>
                  <a:pt x="11367396" y="0"/>
                  <a:pt x="11418570" y="51174"/>
                  <a:pt x="11418570" y="114301"/>
                </a:cubicBezTo>
                <a:lnTo>
                  <a:pt x="11418570" y="760094"/>
                </a:lnTo>
                <a:cubicBezTo>
                  <a:pt x="11418570" y="823221"/>
                  <a:pt x="11367396" y="874395"/>
                  <a:pt x="11304269" y="874395"/>
                </a:cubicBezTo>
                <a:lnTo>
                  <a:pt x="114301" y="874395"/>
                </a:lnTo>
                <a:cubicBezTo>
                  <a:pt x="51174" y="874395"/>
                  <a:pt x="0" y="823221"/>
                  <a:pt x="0" y="760094"/>
                </a:cubicBezTo>
                <a:lnTo>
                  <a:pt x="0" y="114301"/>
                </a:lnTo>
                <a:cubicBezTo>
                  <a:pt x="0" y="51217"/>
                  <a:pt x="51217" y="0"/>
                  <a:pt x="114301" y="0"/>
                </a:cubicBezTo>
                <a:close/>
              </a:path>
            </a:pathLst>
          </a:custGeom>
          <a:solidFill>
            <a:srgbClr val="2A2E33"/>
          </a:solidFill>
          <a:ln w="10160">
            <a:solidFill>
              <a:srgbClr val="3C6E71">
                <a:alpha val="30196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1020" y="1379220"/>
            <a:ext cx="11191875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Power BI</a:t>
            </a:r>
            <a:pPr>
              <a:lnSpc>
                <a:spcPct val="140000"/>
              </a:lnSpc>
            </a:pPr>
            <a:r>
              <a:rPr lang="en-US" sz="1350" dirty="0">
                <a:solidFill>
                  <a:srgbClr val="F3F4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was used to create an interactive dashboard that summarizes key engagement metrics and trends. The dashboard provides real-time insights into audience behavior across multiple dimensions.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88620" y="2256472"/>
            <a:ext cx="11416665" cy="4215765"/>
          </a:xfrm>
          <a:custGeom>
            <a:avLst/>
            <a:gdLst/>
            <a:ahLst/>
            <a:cxnLst/>
            <a:rect l="l" t="t" r="r" b="b"/>
            <a:pathLst>
              <a:path w="11416665" h="4215765">
                <a:moveTo>
                  <a:pt x="152400" y="0"/>
                </a:moveTo>
                <a:lnTo>
                  <a:pt x="11264265" y="0"/>
                </a:lnTo>
                <a:cubicBezTo>
                  <a:pt x="11348433" y="0"/>
                  <a:pt x="11416665" y="68232"/>
                  <a:pt x="11416665" y="152400"/>
                </a:cubicBezTo>
                <a:lnTo>
                  <a:pt x="11416665" y="4063365"/>
                </a:lnTo>
                <a:cubicBezTo>
                  <a:pt x="11416665" y="4147533"/>
                  <a:pt x="11348433" y="4215765"/>
                  <a:pt x="11264265" y="4215765"/>
                </a:cubicBezTo>
                <a:lnTo>
                  <a:pt x="152400" y="4215765"/>
                </a:lnTo>
                <a:cubicBezTo>
                  <a:pt x="68232" y="4215765"/>
                  <a:pt x="0" y="4147533"/>
                  <a:pt x="0" y="4063365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gradFill rotWithShape="1" flip="none">
            <a:gsLst>
              <a:gs pos="0">
                <a:srgbClr val="2A2E33"/>
              </a:gs>
              <a:gs pos="100000">
                <a:srgbClr val="1A1D21"/>
              </a:gs>
            </a:gsLst>
            <a:lin ang="2700000" scaled="1"/>
          </a:gradFill>
          <a:ln w="20320">
            <a:solidFill>
              <a:srgbClr val="3C6E71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781050" y="2648903"/>
            <a:ext cx="1207770" cy="1207770"/>
          </a:xfrm>
          <a:custGeom>
            <a:avLst/>
            <a:gdLst/>
            <a:ahLst/>
            <a:cxnLst/>
            <a:rect l="l" t="t" r="r" b="b"/>
            <a:pathLst>
              <a:path w="1207770" h="1207770">
                <a:moveTo>
                  <a:pt x="603885" y="0"/>
                </a:moveTo>
                <a:lnTo>
                  <a:pt x="603885" y="0"/>
                </a:lnTo>
                <a:cubicBezTo>
                  <a:pt x="937178" y="0"/>
                  <a:pt x="1207770" y="270592"/>
                  <a:pt x="1207770" y="603885"/>
                </a:cubicBezTo>
                <a:lnTo>
                  <a:pt x="1207770" y="603885"/>
                </a:lnTo>
                <a:cubicBezTo>
                  <a:pt x="1207770" y="937178"/>
                  <a:pt x="937178" y="1207770"/>
                  <a:pt x="603885" y="1207770"/>
                </a:cubicBezTo>
                <a:lnTo>
                  <a:pt x="603885" y="1207770"/>
                </a:lnTo>
                <a:cubicBezTo>
                  <a:pt x="270592" y="1207770"/>
                  <a:pt x="0" y="937178"/>
                  <a:pt x="0" y="603885"/>
                </a:cubicBezTo>
                <a:lnTo>
                  <a:pt x="0" y="603885"/>
                </a:lnTo>
                <a:cubicBezTo>
                  <a:pt x="0" y="270592"/>
                  <a:pt x="270592" y="0"/>
                  <a:pt x="603885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10160">
            <a:solidFill>
              <a:srgbClr val="3C6E7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589770" y="4255770"/>
            <a:ext cx="1817370" cy="1817370"/>
          </a:xfrm>
          <a:custGeom>
            <a:avLst/>
            <a:gdLst/>
            <a:ahLst/>
            <a:cxnLst/>
            <a:rect l="l" t="t" r="r" b="b"/>
            <a:pathLst>
              <a:path w="1817370" h="1817370">
                <a:moveTo>
                  <a:pt x="908685" y="0"/>
                </a:moveTo>
                <a:lnTo>
                  <a:pt x="908685" y="0"/>
                </a:lnTo>
                <a:cubicBezTo>
                  <a:pt x="1410538" y="0"/>
                  <a:pt x="1817370" y="406832"/>
                  <a:pt x="1817370" y="908685"/>
                </a:cubicBezTo>
                <a:lnTo>
                  <a:pt x="1817370" y="908685"/>
                </a:lnTo>
                <a:cubicBezTo>
                  <a:pt x="1817370" y="1410538"/>
                  <a:pt x="1410538" y="1817370"/>
                  <a:pt x="908685" y="1817370"/>
                </a:cubicBezTo>
                <a:lnTo>
                  <a:pt x="908685" y="1817370"/>
                </a:lnTo>
                <a:cubicBezTo>
                  <a:pt x="406832" y="1817370"/>
                  <a:pt x="0" y="1410538"/>
                  <a:pt x="0" y="908685"/>
                </a:cubicBezTo>
                <a:lnTo>
                  <a:pt x="0" y="908685"/>
                </a:lnTo>
                <a:cubicBezTo>
                  <a:pt x="0" y="406832"/>
                  <a:pt x="406832" y="0"/>
                  <a:pt x="908685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10160">
            <a:solidFill>
              <a:srgbClr val="D9770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80610" y="3147537"/>
            <a:ext cx="2426970" cy="2426970"/>
          </a:xfrm>
          <a:custGeom>
            <a:avLst/>
            <a:gdLst/>
            <a:ahLst/>
            <a:cxnLst/>
            <a:rect l="l" t="t" r="r" b="b"/>
            <a:pathLst>
              <a:path w="2426970" h="2426970">
                <a:moveTo>
                  <a:pt x="1213485" y="0"/>
                </a:moveTo>
                <a:lnTo>
                  <a:pt x="1213485" y="0"/>
                </a:lnTo>
                <a:cubicBezTo>
                  <a:pt x="1883226" y="0"/>
                  <a:pt x="2426970" y="543744"/>
                  <a:pt x="2426970" y="1213485"/>
                </a:cubicBezTo>
                <a:lnTo>
                  <a:pt x="2426970" y="1213485"/>
                </a:lnTo>
                <a:cubicBezTo>
                  <a:pt x="2426970" y="1883226"/>
                  <a:pt x="1883226" y="2426970"/>
                  <a:pt x="1213485" y="2426970"/>
                </a:cubicBezTo>
                <a:lnTo>
                  <a:pt x="1213485" y="2426970"/>
                </a:lnTo>
                <a:cubicBezTo>
                  <a:pt x="543744" y="2426970"/>
                  <a:pt x="0" y="1883226"/>
                  <a:pt x="0" y="1213485"/>
                </a:cubicBezTo>
                <a:lnTo>
                  <a:pt x="0" y="1213485"/>
                </a:lnTo>
                <a:cubicBezTo>
                  <a:pt x="0" y="543744"/>
                  <a:pt x="543744" y="0"/>
                  <a:pt x="1213485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10160">
            <a:solidFill>
              <a:srgbClr val="3C6E7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38681" y="3429477"/>
            <a:ext cx="914400" cy="914400"/>
          </a:xfrm>
          <a:custGeom>
            <a:avLst/>
            <a:gdLst/>
            <a:ahLst/>
            <a:cxnLst/>
            <a:rect l="l" t="t" r="r" b="b"/>
            <a:pathLst>
              <a:path w="914400" h="914400">
                <a:moveTo>
                  <a:pt x="457200" y="0"/>
                </a:moveTo>
                <a:lnTo>
                  <a:pt x="457200" y="0"/>
                </a:lnTo>
                <a:cubicBezTo>
                  <a:pt x="709536" y="0"/>
                  <a:pt x="914400" y="204864"/>
                  <a:pt x="914400" y="457200"/>
                </a:cubicBezTo>
                <a:lnTo>
                  <a:pt x="914400" y="457200"/>
                </a:lnTo>
                <a:cubicBezTo>
                  <a:pt x="914400" y="709536"/>
                  <a:pt x="709536" y="914400"/>
                  <a:pt x="457200" y="914400"/>
                </a:cubicBezTo>
                <a:lnTo>
                  <a:pt x="457200" y="914400"/>
                </a:lnTo>
                <a:cubicBezTo>
                  <a:pt x="204864" y="914400"/>
                  <a:pt x="0" y="709536"/>
                  <a:pt x="0" y="457200"/>
                </a:cubicBezTo>
                <a:lnTo>
                  <a:pt x="0" y="457200"/>
                </a:lnTo>
                <a:cubicBezTo>
                  <a:pt x="0" y="204864"/>
                  <a:pt x="204864" y="0"/>
                  <a:pt x="457200" y="0"/>
                </a:cubicBezTo>
                <a:close/>
              </a:path>
            </a:pathLst>
          </a:custGeom>
          <a:solidFill>
            <a:srgbClr val="3C6E71">
              <a:alpha val="2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5945862" y="3715227"/>
            <a:ext cx="300038" cy="342900"/>
          </a:xfrm>
          <a:custGeom>
            <a:avLst/>
            <a:gdLst/>
            <a:ahLst/>
            <a:cxnLst/>
            <a:rect l="l" t="t" r="r" b="b"/>
            <a:pathLst>
              <a:path w="300038" h="342900">
                <a:moveTo>
                  <a:pt x="42863" y="21431"/>
                </a:moveTo>
                <a:cubicBezTo>
                  <a:pt x="19221" y="21431"/>
                  <a:pt x="0" y="40652"/>
                  <a:pt x="0" y="64294"/>
                </a:cubicBezTo>
                <a:lnTo>
                  <a:pt x="0" y="278606"/>
                </a:lnTo>
                <a:cubicBezTo>
                  <a:pt x="0" y="302248"/>
                  <a:pt x="19221" y="321469"/>
                  <a:pt x="42863" y="321469"/>
                </a:cubicBezTo>
                <a:lnTo>
                  <a:pt x="257175" y="321469"/>
                </a:lnTo>
                <a:cubicBezTo>
                  <a:pt x="280816" y="321469"/>
                  <a:pt x="300038" y="302248"/>
                  <a:pt x="300038" y="278606"/>
                </a:cubicBezTo>
                <a:lnTo>
                  <a:pt x="300038" y="64294"/>
                </a:lnTo>
                <a:cubicBezTo>
                  <a:pt x="300038" y="40652"/>
                  <a:pt x="280816" y="21431"/>
                  <a:pt x="257175" y="21431"/>
                </a:cubicBezTo>
                <a:lnTo>
                  <a:pt x="42863" y="21431"/>
                </a:lnTo>
                <a:close/>
                <a:moveTo>
                  <a:pt x="85725" y="75009"/>
                </a:moveTo>
                <a:cubicBezTo>
                  <a:pt x="103467" y="75009"/>
                  <a:pt x="117872" y="89414"/>
                  <a:pt x="117872" y="107156"/>
                </a:cubicBezTo>
                <a:cubicBezTo>
                  <a:pt x="117872" y="124899"/>
                  <a:pt x="103467" y="139303"/>
                  <a:pt x="85725" y="139303"/>
                </a:cubicBezTo>
                <a:cubicBezTo>
                  <a:pt x="67983" y="139303"/>
                  <a:pt x="53578" y="124899"/>
                  <a:pt x="53578" y="107156"/>
                </a:cubicBezTo>
                <a:cubicBezTo>
                  <a:pt x="53578" y="89414"/>
                  <a:pt x="67983" y="75009"/>
                  <a:pt x="85725" y="75009"/>
                </a:cubicBezTo>
                <a:close/>
                <a:moveTo>
                  <a:pt x="182166" y="150019"/>
                </a:moveTo>
                <a:cubicBezTo>
                  <a:pt x="187791" y="150019"/>
                  <a:pt x="192948" y="152966"/>
                  <a:pt x="195895" y="157721"/>
                </a:cubicBezTo>
                <a:lnTo>
                  <a:pt x="254831" y="254161"/>
                </a:lnTo>
                <a:cubicBezTo>
                  <a:pt x="257845" y="259117"/>
                  <a:pt x="257979" y="265346"/>
                  <a:pt x="255166" y="270436"/>
                </a:cubicBezTo>
                <a:cubicBezTo>
                  <a:pt x="252353" y="275526"/>
                  <a:pt x="246928" y="278606"/>
                  <a:pt x="241102" y="278606"/>
                </a:cubicBezTo>
                <a:lnTo>
                  <a:pt x="58936" y="278606"/>
                </a:lnTo>
                <a:cubicBezTo>
                  <a:pt x="52975" y="278606"/>
                  <a:pt x="47417" y="275258"/>
                  <a:pt x="44671" y="269967"/>
                </a:cubicBezTo>
                <a:cubicBezTo>
                  <a:pt x="41925" y="264676"/>
                  <a:pt x="42327" y="258247"/>
                  <a:pt x="45742" y="253358"/>
                </a:cubicBezTo>
                <a:lnTo>
                  <a:pt x="83247" y="199779"/>
                </a:lnTo>
                <a:cubicBezTo>
                  <a:pt x="86261" y="195493"/>
                  <a:pt x="91150" y="192948"/>
                  <a:pt x="96441" y="192948"/>
                </a:cubicBezTo>
                <a:cubicBezTo>
                  <a:pt x="101731" y="192948"/>
                  <a:pt x="106620" y="195493"/>
                  <a:pt x="109634" y="199779"/>
                </a:cubicBezTo>
                <a:lnTo>
                  <a:pt x="127315" y="225095"/>
                </a:lnTo>
                <a:lnTo>
                  <a:pt x="168436" y="157788"/>
                </a:lnTo>
                <a:cubicBezTo>
                  <a:pt x="171383" y="153033"/>
                  <a:pt x="176540" y="150086"/>
                  <a:pt x="182166" y="150086"/>
                </a:cubicBezTo>
                <a:close/>
              </a:path>
            </a:pathLst>
          </a:custGeom>
          <a:solidFill>
            <a:srgbClr val="3C6E71"/>
          </a:solidFill>
          <a:ln/>
        </p:spPr>
      </p:sp>
      <p:sp>
        <p:nvSpPr>
          <p:cNvPr id="14" name="Text 12"/>
          <p:cNvSpPr/>
          <p:nvPr/>
        </p:nvSpPr>
        <p:spPr>
          <a:xfrm>
            <a:off x="4333280" y="4572477"/>
            <a:ext cx="3524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3C6E7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Insert Power BI Visual Here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361855" y="5029677"/>
            <a:ext cx="3467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Dashboard Overview Screenshot</a:t>
            </a:r>
            <a:endParaRPr lang="en-US" sz="1600" dirty="0"/>
          </a:p>
        </p:txBody>
      </p:sp>
      <p:pic>
        <p:nvPicPr>
          <p:cNvPr id="16" name="Image 0" descr="https://kimi-img.moonshot.cn/pub/slides/26-03-06-20:35:43-d6lck7v826pop05n2ip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2256472"/>
            <a:ext cx="11422380" cy="4215765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572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3" name="Shape 1"/>
          <p:cNvSpPr/>
          <p:nvPr/>
        </p:nvSpPr>
        <p:spPr>
          <a:xfrm>
            <a:off x="514350" y="5905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775" y="5358"/>
                </a:moveTo>
                <a:cubicBezTo>
                  <a:pt x="23478" y="2307"/>
                  <a:pt x="20910" y="0"/>
                  <a:pt x="17859" y="0"/>
                </a:cubicBezTo>
                <a:cubicBezTo>
                  <a:pt x="14808" y="0"/>
                  <a:pt x="12241" y="2307"/>
                  <a:pt x="11906" y="5321"/>
                </a:cubicBezTo>
                <a:lnTo>
                  <a:pt x="6660" y="55699"/>
                </a:lnTo>
                <a:cubicBezTo>
                  <a:pt x="6176" y="57931"/>
                  <a:pt x="5953" y="60201"/>
                  <a:pt x="5953" y="62471"/>
                </a:cubicBezTo>
                <a:cubicBezTo>
                  <a:pt x="5953" y="79549"/>
                  <a:pt x="19013" y="93576"/>
                  <a:pt x="35719" y="95101"/>
                </a:cubicBezTo>
                <a:lnTo>
                  <a:pt x="35719" y="178594"/>
                </a:lnTo>
                <a:cubicBezTo>
                  <a:pt x="35719" y="185179"/>
                  <a:pt x="41039" y="190500"/>
                  <a:pt x="47625" y="190500"/>
                </a:cubicBezTo>
                <a:cubicBezTo>
                  <a:pt x="54211" y="190500"/>
                  <a:pt x="59531" y="185179"/>
                  <a:pt x="59531" y="178594"/>
                </a:cubicBezTo>
                <a:lnTo>
                  <a:pt x="59531" y="95101"/>
                </a:lnTo>
                <a:cubicBezTo>
                  <a:pt x="76237" y="93576"/>
                  <a:pt x="89297" y="79549"/>
                  <a:pt x="89297" y="62471"/>
                </a:cubicBezTo>
                <a:cubicBezTo>
                  <a:pt x="89297" y="60201"/>
                  <a:pt x="89074" y="57931"/>
                  <a:pt x="88590" y="55699"/>
                </a:cubicBezTo>
                <a:lnTo>
                  <a:pt x="83307" y="5321"/>
                </a:lnTo>
                <a:cubicBezTo>
                  <a:pt x="83009" y="2307"/>
                  <a:pt x="80442" y="0"/>
                  <a:pt x="77391" y="0"/>
                </a:cubicBezTo>
                <a:cubicBezTo>
                  <a:pt x="74340" y="0"/>
                  <a:pt x="71772" y="2307"/>
                  <a:pt x="71475" y="5358"/>
                </a:cubicBezTo>
                <a:lnTo>
                  <a:pt x="66415" y="55773"/>
                </a:lnTo>
                <a:cubicBezTo>
                  <a:pt x="66191" y="57894"/>
                  <a:pt x="64405" y="59531"/>
                  <a:pt x="62285" y="59531"/>
                </a:cubicBezTo>
                <a:cubicBezTo>
                  <a:pt x="60127" y="59531"/>
                  <a:pt x="58341" y="57894"/>
                  <a:pt x="58117" y="55736"/>
                </a:cubicBezTo>
                <a:lnTo>
                  <a:pt x="53541" y="5432"/>
                </a:lnTo>
                <a:cubicBezTo>
                  <a:pt x="53280" y="2344"/>
                  <a:pt x="50713" y="0"/>
                  <a:pt x="47625" y="0"/>
                </a:cubicBezTo>
                <a:cubicBezTo>
                  <a:pt x="44537" y="0"/>
                  <a:pt x="41970" y="2344"/>
                  <a:pt x="41709" y="5432"/>
                </a:cubicBezTo>
                <a:lnTo>
                  <a:pt x="37133" y="55736"/>
                </a:lnTo>
                <a:cubicBezTo>
                  <a:pt x="36947" y="57894"/>
                  <a:pt x="35123" y="59531"/>
                  <a:pt x="32965" y="59531"/>
                </a:cubicBezTo>
                <a:cubicBezTo>
                  <a:pt x="30807" y="59531"/>
                  <a:pt x="29021" y="57894"/>
                  <a:pt x="28835" y="55773"/>
                </a:cubicBezTo>
                <a:lnTo>
                  <a:pt x="23775" y="5358"/>
                </a:lnTo>
                <a:close/>
                <a:moveTo>
                  <a:pt x="166688" y="0"/>
                </a:moveTo>
                <a:cubicBezTo>
                  <a:pt x="160734" y="0"/>
                  <a:pt x="119063" y="11906"/>
                  <a:pt x="119063" y="65484"/>
                </a:cubicBezTo>
                <a:lnTo>
                  <a:pt x="119063" y="107156"/>
                </a:lnTo>
                <a:cubicBezTo>
                  <a:pt x="119063" y="120290"/>
                  <a:pt x="129741" y="130969"/>
                  <a:pt x="142875" y="130969"/>
                </a:cubicBezTo>
                <a:lnTo>
                  <a:pt x="154781" y="130969"/>
                </a:lnTo>
                <a:lnTo>
                  <a:pt x="154781" y="178594"/>
                </a:lnTo>
                <a:cubicBezTo>
                  <a:pt x="154781" y="185179"/>
                  <a:pt x="160102" y="190500"/>
                  <a:pt x="166688" y="190500"/>
                </a:cubicBezTo>
                <a:cubicBezTo>
                  <a:pt x="173273" y="190500"/>
                  <a:pt x="178594" y="185179"/>
                  <a:pt x="178594" y="178594"/>
                </a:cubicBezTo>
                <a:lnTo>
                  <a:pt x="178594" y="11906"/>
                </a:lnTo>
                <a:cubicBezTo>
                  <a:pt x="178594" y="5321"/>
                  <a:pt x="173273" y="0"/>
                  <a:pt x="166688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4" name="Text 2"/>
          <p:cNvSpPr/>
          <p:nvPr/>
        </p:nvSpPr>
        <p:spPr>
          <a:xfrm>
            <a:off x="990600" y="381000"/>
            <a:ext cx="4752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60" kern="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Category Analysis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90600" y="609600"/>
            <a:ext cx="48482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3F4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Engagement by Food Category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4810" y="1223010"/>
            <a:ext cx="5951220" cy="1055370"/>
          </a:xfrm>
          <a:custGeom>
            <a:avLst/>
            <a:gdLst/>
            <a:ahLst/>
            <a:cxnLst/>
            <a:rect l="l" t="t" r="r" b="b"/>
            <a:pathLst>
              <a:path w="5951220" h="1055370">
                <a:moveTo>
                  <a:pt x="114297" y="0"/>
                </a:moveTo>
                <a:lnTo>
                  <a:pt x="5836923" y="0"/>
                </a:lnTo>
                <a:cubicBezTo>
                  <a:pt x="5900048" y="0"/>
                  <a:pt x="5951220" y="51172"/>
                  <a:pt x="5951220" y="114297"/>
                </a:cubicBezTo>
                <a:lnTo>
                  <a:pt x="5951220" y="941073"/>
                </a:lnTo>
                <a:cubicBezTo>
                  <a:pt x="5951220" y="1004198"/>
                  <a:pt x="5900048" y="1055370"/>
                  <a:pt x="5836923" y="1055370"/>
                </a:cubicBezTo>
                <a:lnTo>
                  <a:pt x="114297" y="1055370"/>
                </a:lnTo>
                <a:cubicBezTo>
                  <a:pt x="51172" y="1055370"/>
                  <a:pt x="0" y="1004198"/>
                  <a:pt x="0" y="941073"/>
                </a:cubicBezTo>
                <a:lnTo>
                  <a:pt x="0" y="114297"/>
                </a:lnTo>
                <a:cubicBezTo>
                  <a:pt x="0" y="51172"/>
                  <a:pt x="51172" y="0"/>
                  <a:pt x="114297" y="0"/>
                </a:cubicBezTo>
                <a:close/>
              </a:path>
            </a:pathLst>
          </a:custGeom>
          <a:solidFill>
            <a:srgbClr val="2A2E33"/>
          </a:solidFill>
          <a:ln w="10160">
            <a:solidFill>
              <a:srgbClr val="3C6E71">
                <a:alpha val="30196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1020" y="1379220"/>
            <a:ext cx="57150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3F4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Engagement was analyzed across different food categories including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pizza, burger, sushi, and salad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F3F4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Each category shows unique engagement patterns based on audience preferences.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99027" y="1223010"/>
            <a:ext cx="5303520" cy="1055370"/>
          </a:xfrm>
          <a:custGeom>
            <a:avLst/>
            <a:gdLst/>
            <a:ahLst/>
            <a:cxnLst/>
            <a:rect l="l" t="t" r="r" b="b"/>
            <a:pathLst>
              <a:path w="5303520" h="1055370">
                <a:moveTo>
                  <a:pt x="114297" y="0"/>
                </a:moveTo>
                <a:lnTo>
                  <a:pt x="5189223" y="0"/>
                </a:lnTo>
                <a:cubicBezTo>
                  <a:pt x="5252348" y="0"/>
                  <a:pt x="5303520" y="51172"/>
                  <a:pt x="5303520" y="114297"/>
                </a:cubicBezTo>
                <a:lnTo>
                  <a:pt x="5303520" y="941073"/>
                </a:lnTo>
                <a:cubicBezTo>
                  <a:pt x="5303520" y="1004198"/>
                  <a:pt x="5252348" y="1055370"/>
                  <a:pt x="5189223" y="1055370"/>
                </a:cubicBezTo>
                <a:lnTo>
                  <a:pt x="114297" y="1055370"/>
                </a:lnTo>
                <a:cubicBezTo>
                  <a:pt x="51172" y="1055370"/>
                  <a:pt x="0" y="1004198"/>
                  <a:pt x="0" y="941073"/>
                </a:cubicBezTo>
                <a:lnTo>
                  <a:pt x="0" y="114297"/>
                </a:lnTo>
                <a:cubicBezTo>
                  <a:pt x="0" y="51172"/>
                  <a:pt x="51172" y="0"/>
                  <a:pt x="114297" y="0"/>
                </a:cubicBezTo>
                <a:close/>
              </a:path>
            </a:pathLst>
          </a:custGeom>
          <a:gradFill rotWithShape="1" flip="none">
            <a:gsLst>
              <a:gs pos="0">
                <a:srgbClr val="D97706">
                  <a:alpha val="20000"/>
                </a:srgbClr>
              </a:gs>
              <a:gs pos="100000">
                <a:srgbClr val="D97706">
                  <a:alpha val="5000"/>
                </a:srgbClr>
              </a:gs>
            </a:gsLst>
            <a:lin ang="2700000" scaled="1"/>
          </a:gradFill>
          <a:ln w="10160">
            <a:solidFill>
              <a:srgbClr val="D97706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12387" y="1636395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130775" y="171450"/>
                </a:moveTo>
                <a:cubicBezTo>
                  <a:pt x="134035" y="161493"/>
                  <a:pt x="140553" y="152474"/>
                  <a:pt x="147920" y="144706"/>
                </a:cubicBezTo>
                <a:cubicBezTo>
                  <a:pt x="162520" y="129347"/>
                  <a:pt x="171450" y="108585"/>
                  <a:pt x="171450" y="85725"/>
                </a:cubicBezTo>
                <a:cubicBezTo>
                  <a:pt x="171450" y="38398"/>
                  <a:pt x="133052" y="0"/>
                  <a:pt x="85725" y="0"/>
                </a:cubicBezTo>
                <a:cubicBezTo>
                  <a:pt x="38398" y="0"/>
                  <a:pt x="0" y="38398"/>
                  <a:pt x="0" y="85725"/>
                </a:cubicBezTo>
                <a:cubicBezTo>
                  <a:pt x="0" y="108585"/>
                  <a:pt x="8930" y="129347"/>
                  <a:pt x="23530" y="144706"/>
                </a:cubicBezTo>
                <a:cubicBezTo>
                  <a:pt x="30897" y="152474"/>
                  <a:pt x="37460" y="161493"/>
                  <a:pt x="40675" y="171450"/>
                </a:cubicBezTo>
                <a:lnTo>
                  <a:pt x="130731" y="171450"/>
                </a:lnTo>
                <a:close/>
                <a:moveTo>
                  <a:pt x="128588" y="192881"/>
                </a:moveTo>
                <a:lnTo>
                  <a:pt x="42863" y="192881"/>
                </a:lnTo>
                <a:lnTo>
                  <a:pt x="42863" y="200025"/>
                </a:lnTo>
                <a:cubicBezTo>
                  <a:pt x="42863" y="219760"/>
                  <a:pt x="58847" y="235744"/>
                  <a:pt x="78581" y="235744"/>
                </a:cubicBezTo>
                <a:lnTo>
                  <a:pt x="92869" y="235744"/>
                </a:lnTo>
                <a:cubicBezTo>
                  <a:pt x="112603" y="235744"/>
                  <a:pt x="128588" y="219760"/>
                  <a:pt x="128588" y="200025"/>
                </a:cubicBezTo>
                <a:lnTo>
                  <a:pt x="128588" y="192881"/>
                </a:lnTo>
                <a:close/>
                <a:moveTo>
                  <a:pt x="82153" y="50006"/>
                </a:moveTo>
                <a:cubicBezTo>
                  <a:pt x="64383" y="50006"/>
                  <a:pt x="50006" y="64383"/>
                  <a:pt x="50006" y="82153"/>
                </a:cubicBezTo>
                <a:cubicBezTo>
                  <a:pt x="50006" y="88091"/>
                  <a:pt x="45229" y="92869"/>
                  <a:pt x="39291" y="92869"/>
                </a:cubicBezTo>
                <a:cubicBezTo>
                  <a:pt x="33352" y="92869"/>
                  <a:pt x="28575" y="88091"/>
                  <a:pt x="28575" y="82153"/>
                </a:cubicBezTo>
                <a:cubicBezTo>
                  <a:pt x="28575" y="52551"/>
                  <a:pt x="52551" y="28575"/>
                  <a:pt x="82153" y="28575"/>
                </a:cubicBezTo>
                <a:cubicBezTo>
                  <a:pt x="88091" y="28575"/>
                  <a:pt x="92869" y="33352"/>
                  <a:pt x="92869" y="39291"/>
                </a:cubicBezTo>
                <a:cubicBezTo>
                  <a:pt x="92869" y="45229"/>
                  <a:pt x="88091" y="50006"/>
                  <a:pt x="82153" y="50006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10" name="Text 8"/>
          <p:cNvSpPr/>
          <p:nvPr/>
        </p:nvSpPr>
        <p:spPr>
          <a:xfrm>
            <a:off x="7055287" y="1522095"/>
            <a:ext cx="4657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26" kern="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Insight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055287" y="1750695"/>
            <a:ext cx="4667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3F4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Some categories generate significantly higher engagement than others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88620" y="2442211"/>
            <a:ext cx="11416665" cy="4025265"/>
          </a:xfrm>
          <a:custGeom>
            <a:avLst/>
            <a:gdLst/>
            <a:ahLst/>
            <a:cxnLst/>
            <a:rect l="l" t="t" r="r" b="b"/>
            <a:pathLst>
              <a:path w="11416665" h="4025265">
                <a:moveTo>
                  <a:pt x="152397" y="0"/>
                </a:moveTo>
                <a:lnTo>
                  <a:pt x="11264268" y="0"/>
                </a:lnTo>
                <a:cubicBezTo>
                  <a:pt x="11348435" y="0"/>
                  <a:pt x="11416665" y="68230"/>
                  <a:pt x="11416665" y="152397"/>
                </a:cubicBezTo>
                <a:lnTo>
                  <a:pt x="11416665" y="3872868"/>
                </a:lnTo>
                <a:cubicBezTo>
                  <a:pt x="11416665" y="3957035"/>
                  <a:pt x="11348435" y="4025265"/>
                  <a:pt x="11264268" y="4025265"/>
                </a:cubicBezTo>
                <a:lnTo>
                  <a:pt x="152397" y="4025265"/>
                </a:lnTo>
                <a:cubicBezTo>
                  <a:pt x="68230" y="4025265"/>
                  <a:pt x="0" y="3957035"/>
                  <a:pt x="0" y="3872868"/>
                </a:cubicBezTo>
                <a:lnTo>
                  <a:pt x="0" y="152397"/>
                </a:lnTo>
                <a:cubicBezTo>
                  <a:pt x="0" y="68287"/>
                  <a:pt x="68287" y="0"/>
                  <a:pt x="152397" y="0"/>
                </a:cubicBezTo>
                <a:close/>
              </a:path>
            </a:pathLst>
          </a:custGeom>
          <a:gradFill rotWithShape="1" flip="none">
            <a:gsLst>
              <a:gs pos="0">
                <a:srgbClr val="2A2E33"/>
              </a:gs>
              <a:gs pos="100000">
                <a:srgbClr val="1A1D21"/>
              </a:gs>
            </a:gsLst>
            <a:lin ang="2700000" scaled="1"/>
          </a:gradFill>
          <a:ln w="20320">
            <a:solidFill>
              <a:srgbClr val="3C6E71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 rot="720000">
            <a:off x="9947103" y="2506172"/>
            <a:ext cx="1510665" cy="1510665"/>
          </a:xfrm>
          <a:custGeom>
            <a:avLst/>
            <a:gdLst/>
            <a:ahLst/>
            <a:cxnLst/>
            <a:rect l="l" t="t" r="r" b="b"/>
            <a:pathLst>
              <a:path w="1510665" h="1510665">
                <a:moveTo>
                  <a:pt x="76198" y="0"/>
                </a:moveTo>
                <a:lnTo>
                  <a:pt x="1434467" y="0"/>
                </a:lnTo>
                <a:cubicBezTo>
                  <a:pt x="1476550" y="0"/>
                  <a:pt x="1510665" y="34115"/>
                  <a:pt x="1510665" y="76198"/>
                </a:cubicBezTo>
                <a:lnTo>
                  <a:pt x="1510665" y="1434467"/>
                </a:lnTo>
                <a:cubicBezTo>
                  <a:pt x="1510665" y="1476550"/>
                  <a:pt x="1476550" y="1510665"/>
                  <a:pt x="1434467" y="1510665"/>
                </a:cubicBezTo>
                <a:lnTo>
                  <a:pt x="76198" y="1510665"/>
                </a:lnTo>
                <a:cubicBezTo>
                  <a:pt x="34115" y="1510665"/>
                  <a:pt x="0" y="1476550"/>
                  <a:pt x="0" y="1434467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20320">
            <a:solidFill>
              <a:srgbClr val="D9770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rot="-720000">
            <a:off x="452583" y="4613104"/>
            <a:ext cx="1510665" cy="1510665"/>
          </a:xfrm>
          <a:custGeom>
            <a:avLst/>
            <a:gdLst/>
            <a:ahLst/>
            <a:cxnLst/>
            <a:rect l="l" t="t" r="r" b="b"/>
            <a:pathLst>
              <a:path w="1510665" h="1510665">
                <a:moveTo>
                  <a:pt x="76198" y="0"/>
                </a:moveTo>
                <a:lnTo>
                  <a:pt x="1434467" y="0"/>
                </a:lnTo>
                <a:cubicBezTo>
                  <a:pt x="1476550" y="0"/>
                  <a:pt x="1510665" y="34115"/>
                  <a:pt x="1510665" y="76198"/>
                </a:cubicBezTo>
                <a:lnTo>
                  <a:pt x="1510665" y="1434467"/>
                </a:lnTo>
                <a:cubicBezTo>
                  <a:pt x="1510665" y="1476550"/>
                  <a:pt x="1476550" y="1510665"/>
                  <a:pt x="1434467" y="1510665"/>
                </a:cubicBezTo>
                <a:lnTo>
                  <a:pt x="76198" y="1510665"/>
                </a:lnTo>
                <a:cubicBezTo>
                  <a:pt x="34115" y="1510665"/>
                  <a:pt x="0" y="1476550"/>
                  <a:pt x="0" y="1434467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20320">
            <a:solidFill>
              <a:srgbClr val="3C6E7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638681" y="3522345"/>
            <a:ext cx="914400" cy="914400"/>
          </a:xfrm>
          <a:custGeom>
            <a:avLst/>
            <a:gdLst/>
            <a:ahLst/>
            <a:cxnLst/>
            <a:rect l="l" t="t" r="r" b="b"/>
            <a:pathLst>
              <a:path w="914400" h="914400">
                <a:moveTo>
                  <a:pt x="457200" y="0"/>
                </a:moveTo>
                <a:lnTo>
                  <a:pt x="457200" y="0"/>
                </a:lnTo>
                <a:cubicBezTo>
                  <a:pt x="709536" y="0"/>
                  <a:pt x="914400" y="204864"/>
                  <a:pt x="914400" y="457200"/>
                </a:cubicBezTo>
                <a:lnTo>
                  <a:pt x="914400" y="457200"/>
                </a:lnTo>
                <a:cubicBezTo>
                  <a:pt x="914400" y="709536"/>
                  <a:pt x="709536" y="914400"/>
                  <a:pt x="457200" y="914400"/>
                </a:cubicBezTo>
                <a:lnTo>
                  <a:pt x="457200" y="914400"/>
                </a:lnTo>
                <a:cubicBezTo>
                  <a:pt x="204864" y="914400"/>
                  <a:pt x="0" y="709536"/>
                  <a:pt x="0" y="457200"/>
                </a:cubicBezTo>
                <a:lnTo>
                  <a:pt x="0" y="457200"/>
                </a:lnTo>
                <a:cubicBezTo>
                  <a:pt x="0" y="204864"/>
                  <a:pt x="204864" y="0"/>
                  <a:pt x="457200" y="0"/>
                </a:cubicBezTo>
                <a:close/>
              </a:path>
            </a:pathLst>
          </a:custGeom>
          <a:solidFill>
            <a:srgbClr val="D97706">
              <a:alpha val="2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5924431" y="3808095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21431" y="21431"/>
                </a:moveTo>
                <a:cubicBezTo>
                  <a:pt x="33285" y="21431"/>
                  <a:pt x="42863" y="31008"/>
                  <a:pt x="42863" y="42863"/>
                </a:cubicBezTo>
                <a:lnTo>
                  <a:pt x="42863" y="267891"/>
                </a:lnTo>
                <a:cubicBezTo>
                  <a:pt x="42863" y="273784"/>
                  <a:pt x="47685" y="278606"/>
                  <a:pt x="53578" y="278606"/>
                </a:cubicBezTo>
                <a:lnTo>
                  <a:pt x="321469" y="278606"/>
                </a:lnTo>
                <a:cubicBezTo>
                  <a:pt x="333323" y="278606"/>
                  <a:pt x="342900" y="288183"/>
                  <a:pt x="342900" y="300038"/>
                </a:cubicBezTo>
                <a:cubicBezTo>
                  <a:pt x="342900" y="311892"/>
                  <a:pt x="333323" y="321469"/>
                  <a:pt x="321469" y="321469"/>
                </a:cubicBezTo>
                <a:lnTo>
                  <a:pt x="53578" y="321469"/>
                </a:lnTo>
                <a:cubicBezTo>
                  <a:pt x="23976" y="321469"/>
                  <a:pt x="0" y="297493"/>
                  <a:pt x="0" y="267891"/>
                </a:cubicBezTo>
                <a:lnTo>
                  <a:pt x="0" y="42863"/>
                </a:lnTo>
                <a:cubicBezTo>
                  <a:pt x="0" y="31008"/>
                  <a:pt x="9577" y="21431"/>
                  <a:pt x="21431" y="21431"/>
                </a:cubicBezTo>
                <a:close/>
                <a:moveTo>
                  <a:pt x="85725" y="64294"/>
                </a:moveTo>
                <a:cubicBezTo>
                  <a:pt x="85725" y="52440"/>
                  <a:pt x="95302" y="42863"/>
                  <a:pt x="107156" y="42863"/>
                </a:cubicBezTo>
                <a:lnTo>
                  <a:pt x="235744" y="42863"/>
                </a:lnTo>
                <a:cubicBezTo>
                  <a:pt x="247598" y="42863"/>
                  <a:pt x="257175" y="52440"/>
                  <a:pt x="257175" y="64294"/>
                </a:cubicBezTo>
                <a:cubicBezTo>
                  <a:pt x="257175" y="76148"/>
                  <a:pt x="247598" y="85725"/>
                  <a:pt x="235744" y="85725"/>
                </a:cubicBezTo>
                <a:lnTo>
                  <a:pt x="107156" y="85725"/>
                </a:lnTo>
                <a:cubicBezTo>
                  <a:pt x="95302" y="85725"/>
                  <a:pt x="85725" y="76148"/>
                  <a:pt x="85725" y="64294"/>
                </a:cubicBezTo>
                <a:close/>
                <a:moveTo>
                  <a:pt x="107156" y="117872"/>
                </a:moveTo>
                <a:lnTo>
                  <a:pt x="192881" y="117872"/>
                </a:lnTo>
                <a:cubicBezTo>
                  <a:pt x="204735" y="117872"/>
                  <a:pt x="214313" y="127449"/>
                  <a:pt x="214313" y="139303"/>
                </a:cubicBezTo>
                <a:cubicBezTo>
                  <a:pt x="214313" y="151157"/>
                  <a:pt x="204735" y="160734"/>
                  <a:pt x="192881" y="160734"/>
                </a:cubicBezTo>
                <a:lnTo>
                  <a:pt x="107156" y="160734"/>
                </a:lnTo>
                <a:cubicBezTo>
                  <a:pt x="95302" y="160734"/>
                  <a:pt x="85725" y="151157"/>
                  <a:pt x="85725" y="139303"/>
                </a:cubicBezTo>
                <a:cubicBezTo>
                  <a:pt x="85725" y="127449"/>
                  <a:pt x="95302" y="117872"/>
                  <a:pt x="107156" y="117872"/>
                </a:cubicBezTo>
                <a:close/>
                <a:moveTo>
                  <a:pt x="107156" y="192881"/>
                </a:moveTo>
                <a:lnTo>
                  <a:pt x="278606" y="192881"/>
                </a:lnTo>
                <a:cubicBezTo>
                  <a:pt x="290460" y="192881"/>
                  <a:pt x="300038" y="202458"/>
                  <a:pt x="300038" y="214313"/>
                </a:cubicBezTo>
                <a:cubicBezTo>
                  <a:pt x="300038" y="226167"/>
                  <a:pt x="290460" y="235744"/>
                  <a:pt x="278606" y="235744"/>
                </a:cubicBezTo>
                <a:lnTo>
                  <a:pt x="107156" y="235744"/>
                </a:lnTo>
                <a:cubicBezTo>
                  <a:pt x="95302" y="235744"/>
                  <a:pt x="85725" y="226167"/>
                  <a:pt x="85725" y="214313"/>
                </a:cubicBezTo>
                <a:cubicBezTo>
                  <a:pt x="85725" y="202458"/>
                  <a:pt x="95302" y="192881"/>
                  <a:pt x="107156" y="192881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17" name="Text 15"/>
          <p:cNvSpPr/>
          <p:nvPr/>
        </p:nvSpPr>
        <p:spPr>
          <a:xfrm>
            <a:off x="4333280" y="4665345"/>
            <a:ext cx="3524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Insert Power BI Visual Here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361855" y="5122545"/>
            <a:ext cx="3467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Food Category Engagement Chart</a:t>
            </a:r>
            <a:endParaRPr lang="en-US" sz="1600" dirty="0"/>
          </a:p>
        </p:txBody>
      </p:sp>
      <p:pic>
        <p:nvPicPr>
          <p:cNvPr id="19" name="Image 0" descr="https://kimi-img.moonshot.cn/pub/slides/26-03-06-20:37:24-d6lcl1227jofoitsve4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2442211"/>
            <a:ext cx="11424880" cy="4088289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572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3C6E71"/>
          </a:solidFill>
          <a:ln/>
        </p:spPr>
      </p:sp>
      <p:sp>
        <p:nvSpPr>
          <p:cNvPr id="3" name="Shape 1"/>
          <p:cNvSpPr/>
          <p:nvPr/>
        </p:nvSpPr>
        <p:spPr>
          <a:xfrm>
            <a:off x="538163" y="590550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23812" y="0"/>
                </a:moveTo>
                <a:cubicBezTo>
                  <a:pt x="10678" y="0"/>
                  <a:pt x="0" y="10678"/>
                  <a:pt x="0" y="23812"/>
                </a:cubicBezTo>
                <a:lnTo>
                  <a:pt x="0" y="166688"/>
                </a:lnTo>
                <a:cubicBezTo>
                  <a:pt x="0" y="179822"/>
                  <a:pt x="10678" y="190500"/>
                  <a:pt x="23812" y="190500"/>
                </a:cubicBezTo>
                <a:lnTo>
                  <a:pt x="119063" y="190500"/>
                </a:lnTo>
                <a:cubicBezTo>
                  <a:pt x="132197" y="190500"/>
                  <a:pt x="142875" y="179822"/>
                  <a:pt x="142875" y="166688"/>
                </a:cubicBezTo>
                <a:lnTo>
                  <a:pt x="142875" y="23812"/>
                </a:lnTo>
                <a:cubicBezTo>
                  <a:pt x="142875" y="10678"/>
                  <a:pt x="132197" y="0"/>
                  <a:pt x="119063" y="0"/>
                </a:cubicBezTo>
                <a:lnTo>
                  <a:pt x="23812" y="0"/>
                </a:lnTo>
                <a:close/>
                <a:moveTo>
                  <a:pt x="65484" y="130969"/>
                </a:moveTo>
                <a:lnTo>
                  <a:pt x="77391" y="130969"/>
                </a:lnTo>
                <a:cubicBezTo>
                  <a:pt x="83976" y="130969"/>
                  <a:pt x="89297" y="136289"/>
                  <a:pt x="89297" y="142875"/>
                </a:cubicBezTo>
                <a:lnTo>
                  <a:pt x="89297" y="172641"/>
                </a:lnTo>
                <a:lnTo>
                  <a:pt x="53578" y="172641"/>
                </a:lnTo>
                <a:lnTo>
                  <a:pt x="53578" y="142875"/>
                </a:lnTo>
                <a:cubicBezTo>
                  <a:pt x="53578" y="136289"/>
                  <a:pt x="58899" y="130969"/>
                  <a:pt x="65484" y="130969"/>
                </a:cubicBezTo>
                <a:close/>
                <a:moveTo>
                  <a:pt x="35719" y="41672"/>
                </a:moveTo>
                <a:cubicBezTo>
                  <a:pt x="35719" y="38398"/>
                  <a:pt x="38398" y="35719"/>
                  <a:pt x="41672" y="35719"/>
                </a:cubicBezTo>
                <a:lnTo>
                  <a:pt x="53578" y="35719"/>
                </a:lnTo>
                <a:cubicBezTo>
                  <a:pt x="56852" y="35719"/>
                  <a:pt x="59531" y="38398"/>
                  <a:pt x="59531" y="41672"/>
                </a:cubicBezTo>
                <a:lnTo>
                  <a:pt x="59531" y="53578"/>
                </a:lnTo>
                <a:cubicBezTo>
                  <a:pt x="59531" y="56852"/>
                  <a:pt x="56852" y="59531"/>
                  <a:pt x="53578" y="59531"/>
                </a:cubicBezTo>
                <a:lnTo>
                  <a:pt x="41672" y="59531"/>
                </a:lnTo>
                <a:cubicBezTo>
                  <a:pt x="38398" y="59531"/>
                  <a:pt x="35719" y="56852"/>
                  <a:pt x="35719" y="53578"/>
                </a:cubicBezTo>
                <a:lnTo>
                  <a:pt x="35719" y="41672"/>
                </a:lnTo>
                <a:close/>
                <a:moveTo>
                  <a:pt x="89297" y="35719"/>
                </a:moveTo>
                <a:lnTo>
                  <a:pt x="101203" y="35719"/>
                </a:lnTo>
                <a:cubicBezTo>
                  <a:pt x="104477" y="35719"/>
                  <a:pt x="107156" y="38398"/>
                  <a:pt x="107156" y="41672"/>
                </a:cubicBezTo>
                <a:lnTo>
                  <a:pt x="107156" y="53578"/>
                </a:lnTo>
                <a:cubicBezTo>
                  <a:pt x="107156" y="56852"/>
                  <a:pt x="104477" y="59531"/>
                  <a:pt x="101203" y="59531"/>
                </a:cubicBezTo>
                <a:lnTo>
                  <a:pt x="89297" y="59531"/>
                </a:lnTo>
                <a:cubicBezTo>
                  <a:pt x="86023" y="59531"/>
                  <a:pt x="83344" y="56852"/>
                  <a:pt x="83344" y="53578"/>
                </a:cubicBezTo>
                <a:lnTo>
                  <a:pt x="83344" y="41672"/>
                </a:lnTo>
                <a:cubicBezTo>
                  <a:pt x="83344" y="38398"/>
                  <a:pt x="86023" y="35719"/>
                  <a:pt x="89297" y="35719"/>
                </a:cubicBezTo>
                <a:close/>
                <a:moveTo>
                  <a:pt x="35719" y="89297"/>
                </a:moveTo>
                <a:cubicBezTo>
                  <a:pt x="35719" y="86023"/>
                  <a:pt x="38398" y="83344"/>
                  <a:pt x="41672" y="83344"/>
                </a:cubicBezTo>
                <a:lnTo>
                  <a:pt x="53578" y="83344"/>
                </a:lnTo>
                <a:cubicBezTo>
                  <a:pt x="56852" y="83344"/>
                  <a:pt x="59531" y="86023"/>
                  <a:pt x="59531" y="89297"/>
                </a:cubicBezTo>
                <a:lnTo>
                  <a:pt x="59531" y="101203"/>
                </a:lnTo>
                <a:cubicBezTo>
                  <a:pt x="59531" y="104477"/>
                  <a:pt x="56852" y="107156"/>
                  <a:pt x="53578" y="107156"/>
                </a:cubicBezTo>
                <a:lnTo>
                  <a:pt x="41672" y="107156"/>
                </a:lnTo>
                <a:cubicBezTo>
                  <a:pt x="38398" y="107156"/>
                  <a:pt x="35719" y="104477"/>
                  <a:pt x="35719" y="101203"/>
                </a:cubicBezTo>
                <a:lnTo>
                  <a:pt x="35719" y="89297"/>
                </a:lnTo>
                <a:close/>
                <a:moveTo>
                  <a:pt x="89297" y="83344"/>
                </a:moveTo>
                <a:lnTo>
                  <a:pt x="101203" y="83344"/>
                </a:lnTo>
                <a:cubicBezTo>
                  <a:pt x="104477" y="83344"/>
                  <a:pt x="107156" y="86023"/>
                  <a:pt x="107156" y="89297"/>
                </a:cubicBezTo>
                <a:lnTo>
                  <a:pt x="107156" y="101203"/>
                </a:lnTo>
                <a:cubicBezTo>
                  <a:pt x="107156" y="104477"/>
                  <a:pt x="104477" y="107156"/>
                  <a:pt x="101203" y="107156"/>
                </a:cubicBezTo>
                <a:lnTo>
                  <a:pt x="89297" y="107156"/>
                </a:lnTo>
                <a:cubicBezTo>
                  <a:pt x="86023" y="107156"/>
                  <a:pt x="83344" y="104477"/>
                  <a:pt x="83344" y="101203"/>
                </a:cubicBezTo>
                <a:lnTo>
                  <a:pt x="83344" y="89297"/>
                </a:lnTo>
                <a:cubicBezTo>
                  <a:pt x="83344" y="86023"/>
                  <a:pt x="86023" y="83344"/>
                  <a:pt x="89297" y="83344"/>
                </a:cubicBezTo>
                <a:close/>
              </a:path>
            </a:pathLst>
          </a:custGeom>
          <a:solidFill>
            <a:srgbClr val="F3F4F6"/>
          </a:solidFill>
          <a:ln/>
        </p:spPr>
      </p:sp>
      <p:sp>
        <p:nvSpPr>
          <p:cNvPr id="4" name="Text 2"/>
          <p:cNvSpPr/>
          <p:nvPr/>
        </p:nvSpPr>
        <p:spPr>
          <a:xfrm>
            <a:off x="990600" y="381000"/>
            <a:ext cx="3409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60" kern="0" dirty="0">
                <a:solidFill>
                  <a:srgbClr val="3C6E7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Brand Performance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90600" y="609600"/>
            <a:ext cx="3505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3F4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Engagement by Brand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4810" y="1223010"/>
            <a:ext cx="5160645" cy="1055370"/>
          </a:xfrm>
          <a:custGeom>
            <a:avLst/>
            <a:gdLst/>
            <a:ahLst/>
            <a:cxnLst/>
            <a:rect l="l" t="t" r="r" b="b"/>
            <a:pathLst>
              <a:path w="5160645" h="1055370">
                <a:moveTo>
                  <a:pt x="114297" y="0"/>
                </a:moveTo>
                <a:lnTo>
                  <a:pt x="5046348" y="0"/>
                </a:lnTo>
                <a:cubicBezTo>
                  <a:pt x="5109473" y="0"/>
                  <a:pt x="5160645" y="51172"/>
                  <a:pt x="5160645" y="114297"/>
                </a:cubicBezTo>
                <a:lnTo>
                  <a:pt x="5160645" y="941073"/>
                </a:lnTo>
                <a:cubicBezTo>
                  <a:pt x="5160645" y="1004198"/>
                  <a:pt x="5109473" y="1055370"/>
                  <a:pt x="5046348" y="1055370"/>
                </a:cubicBezTo>
                <a:lnTo>
                  <a:pt x="114297" y="1055370"/>
                </a:lnTo>
                <a:cubicBezTo>
                  <a:pt x="51172" y="1055370"/>
                  <a:pt x="0" y="1004198"/>
                  <a:pt x="0" y="941073"/>
                </a:cubicBezTo>
                <a:lnTo>
                  <a:pt x="0" y="114297"/>
                </a:lnTo>
                <a:cubicBezTo>
                  <a:pt x="0" y="51172"/>
                  <a:pt x="51172" y="0"/>
                  <a:pt x="114297" y="0"/>
                </a:cubicBezTo>
                <a:close/>
              </a:path>
            </a:pathLst>
          </a:custGeom>
          <a:solidFill>
            <a:srgbClr val="2A2E33"/>
          </a:solidFill>
          <a:ln w="10160">
            <a:solidFill>
              <a:srgbClr val="3C6E71">
                <a:alpha val="30196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1020" y="1379220"/>
            <a:ext cx="492442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3F4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Engagement performance was analyzed for major food brands including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Dominos, McDonalds, Subway, and Chipotle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F3F4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Brand recognition and marketing strategies significantly impact audience interaction.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702260" y="1223010"/>
            <a:ext cx="6103620" cy="1055370"/>
          </a:xfrm>
          <a:custGeom>
            <a:avLst/>
            <a:gdLst/>
            <a:ahLst/>
            <a:cxnLst/>
            <a:rect l="l" t="t" r="r" b="b"/>
            <a:pathLst>
              <a:path w="6103620" h="1055370">
                <a:moveTo>
                  <a:pt x="114297" y="0"/>
                </a:moveTo>
                <a:lnTo>
                  <a:pt x="5989323" y="0"/>
                </a:lnTo>
                <a:cubicBezTo>
                  <a:pt x="6052448" y="0"/>
                  <a:pt x="6103620" y="51172"/>
                  <a:pt x="6103620" y="114297"/>
                </a:cubicBezTo>
                <a:lnTo>
                  <a:pt x="6103620" y="941073"/>
                </a:lnTo>
                <a:cubicBezTo>
                  <a:pt x="6103620" y="1004198"/>
                  <a:pt x="6052448" y="1055370"/>
                  <a:pt x="5989323" y="1055370"/>
                </a:cubicBezTo>
                <a:lnTo>
                  <a:pt x="114297" y="1055370"/>
                </a:lnTo>
                <a:cubicBezTo>
                  <a:pt x="51172" y="1055370"/>
                  <a:pt x="0" y="1004198"/>
                  <a:pt x="0" y="941073"/>
                </a:cubicBezTo>
                <a:lnTo>
                  <a:pt x="0" y="114297"/>
                </a:lnTo>
                <a:cubicBezTo>
                  <a:pt x="0" y="51172"/>
                  <a:pt x="51172" y="0"/>
                  <a:pt x="114297" y="0"/>
                </a:cubicBezTo>
                <a:close/>
              </a:path>
            </a:pathLst>
          </a:custGeom>
          <a:gradFill rotWithShape="1" flip="none">
            <a:gsLst>
              <a:gs pos="0">
                <a:srgbClr val="3C6E71">
                  <a:alpha val="20000"/>
                </a:srgbClr>
              </a:gs>
              <a:gs pos="100000">
                <a:srgbClr val="3C6E71">
                  <a:alpha val="5000"/>
                </a:srgbClr>
              </a:gs>
            </a:gsLst>
            <a:lin ang="2700000" scaled="1"/>
          </a:gradFill>
          <a:ln w="10160">
            <a:solidFill>
              <a:srgbClr val="3C6E71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15620" y="1636395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130775" y="171450"/>
                </a:moveTo>
                <a:cubicBezTo>
                  <a:pt x="134035" y="161493"/>
                  <a:pt x="140553" y="152474"/>
                  <a:pt x="147920" y="144706"/>
                </a:cubicBezTo>
                <a:cubicBezTo>
                  <a:pt x="162520" y="129347"/>
                  <a:pt x="171450" y="108585"/>
                  <a:pt x="171450" y="85725"/>
                </a:cubicBezTo>
                <a:cubicBezTo>
                  <a:pt x="171450" y="38398"/>
                  <a:pt x="133052" y="0"/>
                  <a:pt x="85725" y="0"/>
                </a:cubicBezTo>
                <a:cubicBezTo>
                  <a:pt x="38398" y="0"/>
                  <a:pt x="0" y="38398"/>
                  <a:pt x="0" y="85725"/>
                </a:cubicBezTo>
                <a:cubicBezTo>
                  <a:pt x="0" y="108585"/>
                  <a:pt x="8930" y="129347"/>
                  <a:pt x="23530" y="144706"/>
                </a:cubicBezTo>
                <a:cubicBezTo>
                  <a:pt x="30897" y="152474"/>
                  <a:pt x="37460" y="161493"/>
                  <a:pt x="40675" y="171450"/>
                </a:cubicBezTo>
                <a:lnTo>
                  <a:pt x="130731" y="171450"/>
                </a:lnTo>
                <a:close/>
                <a:moveTo>
                  <a:pt x="128588" y="192881"/>
                </a:moveTo>
                <a:lnTo>
                  <a:pt x="42863" y="192881"/>
                </a:lnTo>
                <a:lnTo>
                  <a:pt x="42863" y="200025"/>
                </a:lnTo>
                <a:cubicBezTo>
                  <a:pt x="42863" y="219760"/>
                  <a:pt x="58847" y="235744"/>
                  <a:pt x="78581" y="235744"/>
                </a:cubicBezTo>
                <a:lnTo>
                  <a:pt x="92869" y="235744"/>
                </a:lnTo>
                <a:cubicBezTo>
                  <a:pt x="112603" y="235744"/>
                  <a:pt x="128588" y="219760"/>
                  <a:pt x="128588" y="200025"/>
                </a:cubicBezTo>
                <a:lnTo>
                  <a:pt x="128588" y="192881"/>
                </a:lnTo>
                <a:close/>
                <a:moveTo>
                  <a:pt x="82153" y="50006"/>
                </a:moveTo>
                <a:cubicBezTo>
                  <a:pt x="64383" y="50006"/>
                  <a:pt x="50006" y="64383"/>
                  <a:pt x="50006" y="82153"/>
                </a:cubicBezTo>
                <a:cubicBezTo>
                  <a:pt x="50006" y="88091"/>
                  <a:pt x="45229" y="92869"/>
                  <a:pt x="39291" y="92869"/>
                </a:cubicBezTo>
                <a:cubicBezTo>
                  <a:pt x="33352" y="92869"/>
                  <a:pt x="28575" y="88091"/>
                  <a:pt x="28575" y="82153"/>
                </a:cubicBezTo>
                <a:cubicBezTo>
                  <a:pt x="28575" y="52551"/>
                  <a:pt x="52551" y="28575"/>
                  <a:pt x="82153" y="28575"/>
                </a:cubicBezTo>
                <a:cubicBezTo>
                  <a:pt x="88091" y="28575"/>
                  <a:pt x="92869" y="33352"/>
                  <a:pt x="92869" y="39291"/>
                </a:cubicBezTo>
                <a:cubicBezTo>
                  <a:pt x="92869" y="45229"/>
                  <a:pt x="88091" y="50006"/>
                  <a:pt x="82153" y="50006"/>
                </a:cubicBezTo>
                <a:close/>
              </a:path>
            </a:pathLst>
          </a:custGeom>
          <a:solidFill>
            <a:srgbClr val="3C6E71"/>
          </a:solidFill>
          <a:ln/>
        </p:spPr>
      </p:sp>
      <p:sp>
        <p:nvSpPr>
          <p:cNvPr id="10" name="Text 8"/>
          <p:cNvSpPr/>
          <p:nvPr/>
        </p:nvSpPr>
        <p:spPr>
          <a:xfrm>
            <a:off x="6258520" y="1522095"/>
            <a:ext cx="5457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26" kern="0" dirty="0">
                <a:solidFill>
                  <a:srgbClr val="3C6E7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Insight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258520" y="1750695"/>
            <a:ext cx="5467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3F4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Certain brands attract higher audience interaction due to popularity and marketing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88620" y="2442211"/>
            <a:ext cx="11416665" cy="4025265"/>
          </a:xfrm>
          <a:custGeom>
            <a:avLst/>
            <a:gdLst/>
            <a:ahLst/>
            <a:cxnLst/>
            <a:rect l="l" t="t" r="r" b="b"/>
            <a:pathLst>
              <a:path w="11416665" h="4025265">
                <a:moveTo>
                  <a:pt x="152397" y="0"/>
                </a:moveTo>
                <a:lnTo>
                  <a:pt x="11264268" y="0"/>
                </a:lnTo>
                <a:cubicBezTo>
                  <a:pt x="11348435" y="0"/>
                  <a:pt x="11416665" y="68230"/>
                  <a:pt x="11416665" y="152397"/>
                </a:cubicBezTo>
                <a:lnTo>
                  <a:pt x="11416665" y="3872868"/>
                </a:lnTo>
                <a:cubicBezTo>
                  <a:pt x="11416665" y="3957035"/>
                  <a:pt x="11348435" y="4025265"/>
                  <a:pt x="11264268" y="4025265"/>
                </a:cubicBezTo>
                <a:lnTo>
                  <a:pt x="152397" y="4025265"/>
                </a:lnTo>
                <a:cubicBezTo>
                  <a:pt x="68230" y="4025265"/>
                  <a:pt x="0" y="3957035"/>
                  <a:pt x="0" y="3872868"/>
                </a:cubicBezTo>
                <a:lnTo>
                  <a:pt x="0" y="152397"/>
                </a:lnTo>
                <a:cubicBezTo>
                  <a:pt x="0" y="68287"/>
                  <a:pt x="68287" y="0"/>
                  <a:pt x="152397" y="0"/>
                </a:cubicBezTo>
                <a:close/>
              </a:path>
            </a:pathLst>
          </a:custGeom>
          <a:gradFill rotWithShape="1" flip="none">
            <a:gsLst>
              <a:gs pos="0">
                <a:srgbClr val="2A2E33"/>
              </a:gs>
              <a:gs pos="100000">
                <a:srgbClr val="1A1D21"/>
              </a:gs>
            </a:gsLst>
            <a:lin ang="2700000" scaled="1"/>
          </a:gradFill>
          <a:ln w="20320">
            <a:solidFill>
              <a:srgbClr val="3C6E71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4232910" y="2830830"/>
            <a:ext cx="281940" cy="708660"/>
          </a:xfrm>
          <a:custGeom>
            <a:avLst/>
            <a:gdLst/>
            <a:ahLst/>
            <a:cxnLst/>
            <a:rect l="l" t="t" r="r" b="b"/>
            <a:pathLst>
              <a:path w="281940" h="708660">
                <a:moveTo>
                  <a:pt x="0" y="0"/>
                </a:moveTo>
                <a:lnTo>
                  <a:pt x="281940" y="0"/>
                </a:lnTo>
                <a:lnTo>
                  <a:pt x="281940" y="708660"/>
                </a:lnTo>
                <a:lnTo>
                  <a:pt x="0" y="70866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3387090" y="2830830"/>
            <a:ext cx="751840" cy="629920"/>
          </a:xfrm>
          <a:prstGeom prst="triangle">
            <a:avLst>
              <a:gd name="adj" fmla="val 50000"/>
            </a:avLst>
          </a:prstGeom>
          <a:solidFill>
            <a:srgbClr val="3C6E71"/>
          </a:solidFill>
          <a:ln/>
        </p:spPr>
      </p:sp>
      <p:sp>
        <p:nvSpPr>
          <p:cNvPr id="15" name="Shape 13"/>
          <p:cNvSpPr/>
          <p:nvPr/>
        </p:nvSpPr>
        <p:spPr>
          <a:xfrm>
            <a:off x="3387090" y="2830830"/>
            <a:ext cx="281940" cy="708660"/>
          </a:xfrm>
          <a:custGeom>
            <a:avLst/>
            <a:gdLst/>
            <a:ahLst/>
            <a:cxnLst/>
            <a:rect l="l" t="t" r="r" b="b"/>
            <a:pathLst>
              <a:path w="281940" h="708660">
                <a:moveTo>
                  <a:pt x="0" y="0"/>
                </a:moveTo>
                <a:lnTo>
                  <a:pt x="281940" y="0"/>
                </a:lnTo>
                <a:lnTo>
                  <a:pt x="281940" y="708660"/>
                </a:lnTo>
                <a:lnTo>
                  <a:pt x="0" y="70866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9368790" y="5608320"/>
            <a:ext cx="281940" cy="708660"/>
          </a:xfrm>
          <a:custGeom>
            <a:avLst/>
            <a:gdLst/>
            <a:ahLst/>
            <a:cxnLst/>
            <a:rect l="l" t="t" r="r" b="b"/>
            <a:pathLst>
              <a:path w="281940" h="708660">
                <a:moveTo>
                  <a:pt x="0" y="0"/>
                </a:moveTo>
                <a:lnTo>
                  <a:pt x="281940" y="0"/>
                </a:lnTo>
                <a:lnTo>
                  <a:pt x="281940" y="708660"/>
                </a:lnTo>
                <a:lnTo>
                  <a:pt x="0" y="70866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8522970" y="5608320"/>
            <a:ext cx="751840" cy="629920"/>
          </a:xfrm>
          <a:prstGeom prst="triangle">
            <a:avLst>
              <a:gd name="adj" fmla="val 50000"/>
            </a:avLst>
          </a:prstGeom>
          <a:solidFill>
            <a:srgbClr val="D97706"/>
          </a:solidFill>
          <a:ln/>
        </p:spPr>
      </p:sp>
      <p:sp>
        <p:nvSpPr>
          <p:cNvPr id="18" name="Shape 16"/>
          <p:cNvSpPr/>
          <p:nvPr/>
        </p:nvSpPr>
        <p:spPr>
          <a:xfrm>
            <a:off x="8522970" y="5608320"/>
            <a:ext cx="281940" cy="708660"/>
          </a:xfrm>
          <a:custGeom>
            <a:avLst/>
            <a:gdLst/>
            <a:ahLst/>
            <a:cxnLst/>
            <a:rect l="l" t="t" r="r" b="b"/>
            <a:pathLst>
              <a:path w="281940" h="708660">
                <a:moveTo>
                  <a:pt x="0" y="0"/>
                </a:moveTo>
                <a:lnTo>
                  <a:pt x="281940" y="0"/>
                </a:lnTo>
                <a:lnTo>
                  <a:pt x="281940" y="708660"/>
                </a:lnTo>
                <a:lnTo>
                  <a:pt x="0" y="70866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5638681" y="3522345"/>
            <a:ext cx="914400" cy="914400"/>
          </a:xfrm>
          <a:custGeom>
            <a:avLst/>
            <a:gdLst/>
            <a:ahLst/>
            <a:cxnLst/>
            <a:rect l="l" t="t" r="r" b="b"/>
            <a:pathLst>
              <a:path w="914400" h="914400">
                <a:moveTo>
                  <a:pt x="457200" y="0"/>
                </a:moveTo>
                <a:lnTo>
                  <a:pt x="457200" y="0"/>
                </a:lnTo>
                <a:cubicBezTo>
                  <a:pt x="709536" y="0"/>
                  <a:pt x="914400" y="204864"/>
                  <a:pt x="914400" y="457200"/>
                </a:cubicBezTo>
                <a:lnTo>
                  <a:pt x="914400" y="457200"/>
                </a:lnTo>
                <a:cubicBezTo>
                  <a:pt x="914400" y="709536"/>
                  <a:pt x="709536" y="914400"/>
                  <a:pt x="457200" y="914400"/>
                </a:cubicBezTo>
                <a:lnTo>
                  <a:pt x="457200" y="914400"/>
                </a:lnTo>
                <a:cubicBezTo>
                  <a:pt x="204864" y="914400"/>
                  <a:pt x="0" y="709536"/>
                  <a:pt x="0" y="457200"/>
                </a:cubicBezTo>
                <a:lnTo>
                  <a:pt x="0" y="457200"/>
                </a:lnTo>
                <a:cubicBezTo>
                  <a:pt x="0" y="204864"/>
                  <a:pt x="204864" y="0"/>
                  <a:pt x="457200" y="0"/>
                </a:cubicBezTo>
                <a:close/>
              </a:path>
            </a:pathLst>
          </a:custGeom>
          <a:solidFill>
            <a:srgbClr val="3C6E71">
              <a:alpha val="2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5903000" y="3808095"/>
            <a:ext cx="385763" cy="342900"/>
          </a:xfrm>
          <a:custGeom>
            <a:avLst/>
            <a:gdLst/>
            <a:ahLst/>
            <a:cxnLst/>
            <a:rect l="l" t="t" r="r" b="b"/>
            <a:pathLst>
              <a:path w="385763" h="342900">
                <a:moveTo>
                  <a:pt x="343168" y="160734"/>
                </a:moveTo>
                <a:lnTo>
                  <a:pt x="225296" y="160734"/>
                </a:lnTo>
                <a:cubicBezTo>
                  <a:pt x="213442" y="160734"/>
                  <a:pt x="203865" y="151157"/>
                  <a:pt x="203865" y="139303"/>
                </a:cubicBezTo>
                <a:lnTo>
                  <a:pt x="203865" y="21431"/>
                </a:lnTo>
                <a:cubicBezTo>
                  <a:pt x="203865" y="9577"/>
                  <a:pt x="213509" y="-134"/>
                  <a:pt x="225229" y="1406"/>
                </a:cubicBezTo>
                <a:cubicBezTo>
                  <a:pt x="296890" y="10917"/>
                  <a:pt x="353683" y="67709"/>
                  <a:pt x="363193" y="139370"/>
                </a:cubicBezTo>
                <a:cubicBezTo>
                  <a:pt x="364733" y="151090"/>
                  <a:pt x="355022" y="160734"/>
                  <a:pt x="343168" y="160734"/>
                </a:cubicBezTo>
                <a:close/>
                <a:moveTo>
                  <a:pt x="149081" y="24914"/>
                </a:moveTo>
                <a:cubicBezTo>
                  <a:pt x="161203" y="22369"/>
                  <a:pt x="171718" y="32281"/>
                  <a:pt x="171718" y="44671"/>
                </a:cubicBezTo>
                <a:lnTo>
                  <a:pt x="171718" y="176808"/>
                </a:lnTo>
                <a:cubicBezTo>
                  <a:pt x="171718" y="180558"/>
                  <a:pt x="173057" y="184175"/>
                  <a:pt x="175401" y="187055"/>
                </a:cubicBezTo>
                <a:lnTo>
                  <a:pt x="263872" y="293809"/>
                </a:lnTo>
                <a:cubicBezTo>
                  <a:pt x="271708" y="303252"/>
                  <a:pt x="270034" y="317517"/>
                  <a:pt x="259251" y="323344"/>
                </a:cubicBezTo>
                <a:cubicBezTo>
                  <a:pt x="236413" y="335801"/>
                  <a:pt x="210227" y="342900"/>
                  <a:pt x="182434" y="342900"/>
                </a:cubicBezTo>
                <a:cubicBezTo>
                  <a:pt x="93695" y="342900"/>
                  <a:pt x="21699" y="270904"/>
                  <a:pt x="21699" y="182166"/>
                </a:cubicBezTo>
                <a:cubicBezTo>
                  <a:pt x="21699" y="104812"/>
                  <a:pt x="76282" y="40251"/>
                  <a:pt x="149081" y="24914"/>
                </a:cubicBezTo>
                <a:close/>
                <a:moveTo>
                  <a:pt x="319995" y="192881"/>
                </a:moveTo>
                <a:lnTo>
                  <a:pt x="362858" y="192881"/>
                </a:lnTo>
                <a:cubicBezTo>
                  <a:pt x="375248" y="192881"/>
                  <a:pt x="385160" y="203396"/>
                  <a:pt x="382615" y="215518"/>
                </a:cubicBezTo>
                <a:cubicBezTo>
                  <a:pt x="375784" y="247933"/>
                  <a:pt x="359174" y="276731"/>
                  <a:pt x="336002" y="298698"/>
                </a:cubicBezTo>
                <a:cubicBezTo>
                  <a:pt x="327764" y="306534"/>
                  <a:pt x="314838" y="304860"/>
                  <a:pt x="307605" y="296086"/>
                </a:cubicBezTo>
                <a:lnTo>
                  <a:pt x="251080" y="227975"/>
                </a:lnTo>
                <a:cubicBezTo>
                  <a:pt x="239494" y="213978"/>
                  <a:pt x="249473" y="192881"/>
                  <a:pt x="267556" y="192881"/>
                </a:cubicBezTo>
                <a:lnTo>
                  <a:pt x="319928" y="192881"/>
                </a:lnTo>
                <a:close/>
              </a:path>
            </a:pathLst>
          </a:custGeom>
          <a:solidFill>
            <a:srgbClr val="3C6E71"/>
          </a:solidFill>
          <a:ln/>
        </p:spPr>
      </p:sp>
      <p:sp>
        <p:nvSpPr>
          <p:cNvPr id="21" name="Text 19"/>
          <p:cNvSpPr/>
          <p:nvPr/>
        </p:nvSpPr>
        <p:spPr>
          <a:xfrm>
            <a:off x="4333280" y="4665345"/>
            <a:ext cx="3524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3C6E7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Insert Power BI Visual Here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361855" y="5122545"/>
            <a:ext cx="3467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Brand Engagement Chart</a:t>
            </a:r>
            <a:endParaRPr lang="en-US" sz="1600" dirty="0"/>
          </a:p>
        </p:txBody>
      </p:sp>
      <p:pic>
        <p:nvPicPr>
          <p:cNvPr id="23" name="Image 0" descr="https://kimi-img.moonshot.cn/pub/slides/26-03-06-20:38:49-d6lclmcrhklalo1qlmd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2442211"/>
            <a:ext cx="11424880" cy="4020253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572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3" name="Shape 1"/>
          <p:cNvSpPr/>
          <p:nvPr/>
        </p:nvSpPr>
        <p:spPr>
          <a:xfrm>
            <a:off x="514350" y="5905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147820" y="0"/>
                  <a:pt x="190500" y="42680"/>
                  <a:pt x="190500" y="95250"/>
                </a:cubicBezTo>
                <a:cubicBezTo>
                  <a:pt x="190500" y="147820"/>
                  <a:pt x="147820" y="190500"/>
                  <a:pt x="95250" y="190500"/>
                </a:cubicBezTo>
                <a:cubicBezTo>
                  <a:pt x="42680" y="190500"/>
                  <a:pt x="0" y="147820"/>
                  <a:pt x="0" y="95250"/>
                </a:cubicBezTo>
                <a:cubicBezTo>
                  <a:pt x="0" y="42680"/>
                  <a:pt x="42680" y="0"/>
                  <a:pt x="95250" y="0"/>
                </a:cubicBezTo>
                <a:close/>
                <a:moveTo>
                  <a:pt x="86320" y="44648"/>
                </a:moveTo>
                <a:lnTo>
                  <a:pt x="86320" y="95250"/>
                </a:lnTo>
                <a:cubicBezTo>
                  <a:pt x="86320" y="98227"/>
                  <a:pt x="87809" y="101017"/>
                  <a:pt x="90301" y="102691"/>
                </a:cubicBezTo>
                <a:lnTo>
                  <a:pt x="126020" y="126504"/>
                </a:lnTo>
                <a:cubicBezTo>
                  <a:pt x="130113" y="129257"/>
                  <a:pt x="135657" y="128141"/>
                  <a:pt x="138410" y="124011"/>
                </a:cubicBezTo>
                <a:cubicBezTo>
                  <a:pt x="141163" y="119881"/>
                  <a:pt x="140047" y="114374"/>
                  <a:pt x="135917" y="111621"/>
                </a:cubicBezTo>
                <a:lnTo>
                  <a:pt x="104180" y="90488"/>
                </a:lnTo>
                <a:lnTo>
                  <a:pt x="104180" y="44648"/>
                </a:lnTo>
                <a:cubicBezTo>
                  <a:pt x="104180" y="39700"/>
                  <a:pt x="100199" y="35719"/>
                  <a:pt x="95250" y="35719"/>
                </a:cubicBezTo>
                <a:cubicBezTo>
                  <a:pt x="90301" y="35719"/>
                  <a:pt x="86320" y="39700"/>
                  <a:pt x="86320" y="44648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4" name="Text 2"/>
          <p:cNvSpPr/>
          <p:nvPr/>
        </p:nvSpPr>
        <p:spPr>
          <a:xfrm>
            <a:off x="990600" y="381000"/>
            <a:ext cx="4314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60" kern="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Temporal Analysis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90600" y="609600"/>
            <a:ext cx="44100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3F4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Engagement by Time of Day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4810" y="1223010"/>
            <a:ext cx="6932295" cy="1188720"/>
          </a:xfrm>
          <a:custGeom>
            <a:avLst/>
            <a:gdLst/>
            <a:ahLst/>
            <a:cxnLst/>
            <a:rect l="l" t="t" r="r" b="b"/>
            <a:pathLst>
              <a:path w="6932295" h="1188720">
                <a:moveTo>
                  <a:pt x="114295" y="0"/>
                </a:moveTo>
                <a:lnTo>
                  <a:pt x="6818000" y="0"/>
                </a:lnTo>
                <a:cubicBezTo>
                  <a:pt x="6881081" y="0"/>
                  <a:pt x="6932295" y="51214"/>
                  <a:pt x="6932295" y="114295"/>
                </a:cubicBezTo>
                <a:lnTo>
                  <a:pt x="6932295" y="1074425"/>
                </a:lnTo>
                <a:cubicBezTo>
                  <a:pt x="6932295" y="1137548"/>
                  <a:pt x="6881123" y="1188720"/>
                  <a:pt x="6818000" y="1188720"/>
                </a:cubicBezTo>
                <a:lnTo>
                  <a:pt x="114295" y="1188720"/>
                </a:lnTo>
                <a:cubicBezTo>
                  <a:pt x="51214" y="1188720"/>
                  <a:pt x="0" y="1137506"/>
                  <a:pt x="0" y="1074425"/>
                </a:cubicBezTo>
                <a:lnTo>
                  <a:pt x="0" y="114295"/>
                </a:lnTo>
                <a:cubicBezTo>
                  <a:pt x="0" y="51214"/>
                  <a:pt x="51214" y="0"/>
                  <a:pt x="114295" y="0"/>
                </a:cubicBezTo>
                <a:close/>
              </a:path>
            </a:pathLst>
          </a:custGeom>
          <a:solidFill>
            <a:srgbClr val="2A2E33"/>
          </a:solidFill>
          <a:ln w="10160">
            <a:solidFill>
              <a:srgbClr val="3C6E71">
                <a:alpha val="30196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1020" y="1379220"/>
            <a:ext cx="66960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3F4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Posting time significantly affects engagement levels. Analysis covered four key time segments throughout the day.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1020" y="1988820"/>
            <a:ext cx="704850" cy="266700"/>
          </a:xfrm>
          <a:custGeom>
            <a:avLst/>
            <a:gdLst/>
            <a:ahLst/>
            <a:cxnLst/>
            <a:rect l="l" t="t" r="r" b="b"/>
            <a:pathLst>
              <a:path w="704850" h="266700">
                <a:moveTo>
                  <a:pt x="76199" y="0"/>
                </a:moveTo>
                <a:lnTo>
                  <a:pt x="628651" y="0"/>
                </a:lnTo>
                <a:cubicBezTo>
                  <a:pt x="670706" y="0"/>
                  <a:pt x="704850" y="34144"/>
                  <a:pt x="704850" y="76199"/>
                </a:cubicBezTo>
                <a:lnTo>
                  <a:pt x="704850" y="190501"/>
                </a:lnTo>
                <a:cubicBezTo>
                  <a:pt x="704850" y="232556"/>
                  <a:pt x="670706" y="266700"/>
                  <a:pt x="628651" y="266700"/>
                </a:cubicBezTo>
                <a:lnTo>
                  <a:pt x="76199" y="266700"/>
                </a:lnTo>
                <a:cubicBezTo>
                  <a:pt x="34144" y="266700"/>
                  <a:pt x="0" y="232556"/>
                  <a:pt x="0" y="1905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3C6E71">
              <a:alpha val="2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541020" y="1988820"/>
            <a:ext cx="771525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3C6E7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Morning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323975" y="1988820"/>
            <a:ext cx="809625" cy="266700"/>
          </a:xfrm>
          <a:custGeom>
            <a:avLst/>
            <a:gdLst/>
            <a:ahLst/>
            <a:cxnLst/>
            <a:rect l="l" t="t" r="r" b="b"/>
            <a:pathLst>
              <a:path w="809625" h="266700">
                <a:moveTo>
                  <a:pt x="76199" y="0"/>
                </a:moveTo>
                <a:lnTo>
                  <a:pt x="733426" y="0"/>
                </a:lnTo>
                <a:cubicBezTo>
                  <a:pt x="775481" y="0"/>
                  <a:pt x="809625" y="34144"/>
                  <a:pt x="809625" y="76199"/>
                </a:cubicBezTo>
                <a:lnTo>
                  <a:pt x="809625" y="190501"/>
                </a:lnTo>
                <a:cubicBezTo>
                  <a:pt x="809625" y="232556"/>
                  <a:pt x="775481" y="266700"/>
                  <a:pt x="733426" y="266700"/>
                </a:cubicBezTo>
                <a:lnTo>
                  <a:pt x="76199" y="266700"/>
                </a:lnTo>
                <a:cubicBezTo>
                  <a:pt x="34144" y="266700"/>
                  <a:pt x="0" y="232556"/>
                  <a:pt x="0" y="1905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D97706">
              <a:alpha val="2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323975" y="1988820"/>
            <a:ext cx="876300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Afternoon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207419" y="1988820"/>
            <a:ext cx="676275" cy="266700"/>
          </a:xfrm>
          <a:custGeom>
            <a:avLst/>
            <a:gdLst/>
            <a:ahLst/>
            <a:cxnLst/>
            <a:rect l="l" t="t" r="r" b="b"/>
            <a:pathLst>
              <a:path w="676275" h="266700">
                <a:moveTo>
                  <a:pt x="76199" y="0"/>
                </a:moveTo>
                <a:lnTo>
                  <a:pt x="600076" y="0"/>
                </a:lnTo>
                <a:cubicBezTo>
                  <a:pt x="642131" y="0"/>
                  <a:pt x="676275" y="34144"/>
                  <a:pt x="676275" y="76199"/>
                </a:cubicBezTo>
                <a:lnTo>
                  <a:pt x="676275" y="190501"/>
                </a:lnTo>
                <a:cubicBezTo>
                  <a:pt x="676275" y="232556"/>
                  <a:pt x="642131" y="266700"/>
                  <a:pt x="600076" y="266700"/>
                </a:cubicBezTo>
                <a:lnTo>
                  <a:pt x="76199" y="266700"/>
                </a:lnTo>
                <a:cubicBezTo>
                  <a:pt x="34144" y="266700"/>
                  <a:pt x="0" y="232556"/>
                  <a:pt x="0" y="1905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3C6E71">
              <a:alpha val="2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2207419" y="1988820"/>
            <a:ext cx="742950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3C6E7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Evening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963585" y="1988820"/>
            <a:ext cx="533400" cy="266700"/>
          </a:xfrm>
          <a:custGeom>
            <a:avLst/>
            <a:gdLst/>
            <a:ahLst/>
            <a:cxnLst/>
            <a:rect l="l" t="t" r="r" b="b"/>
            <a:pathLst>
              <a:path w="533400" h="266700">
                <a:moveTo>
                  <a:pt x="76199" y="0"/>
                </a:moveTo>
                <a:lnTo>
                  <a:pt x="457201" y="0"/>
                </a:lnTo>
                <a:cubicBezTo>
                  <a:pt x="499256" y="0"/>
                  <a:pt x="533400" y="34144"/>
                  <a:pt x="533400" y="76199"/>
                </a:cubicBezTo>
                <a:lnTo>
                  <a:pt x="533400" y="190501"/>
                </a:lnTo>
                <a:cubicBezTo>
                  <a:pt x="533400" y="232556"/>
                  <a:pt x="499256" y="266700"/>
                  <a:pt x="457201" y="266700"/>
                </a:cubicBezTo>
                <a:lnTo>
                  <a:pt x="76199" y="266700"/>
                </a:lnTo>
                <a:cubicBezTo>
                  <a:pt x="34144" y="266700"/>
                  <a:pt x="0" y="232556"/>
                  <a:pt x="0" y="1905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6B7280">
              <a:alpha val="2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2963585" y="1988820"/>
            <a:ext cx="600075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Night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475816" y="1223010"/>
            <a:ext cx="4331970" cy="1188720"/>
          </a:xfrm>
          <a:custGeom>
            <a:avLst/>
            <a:gdLst/>
            <a:ahLst/>
            <a:cxnLst/>
            <a:rect l="l" t="t" r="r" b="b"/>
            <a:pathLst>
              <a:path w="4331970" h="1188720">
                <a:moveTo>
                  <a:pt x="114295" y="0"/>
                </a:moveTo>
                <a:lnTo>
                  <a:pt x="4217675" y="0"/>
                </a:lnTo>
                <a:cubicBezTo>
                  <a:pt x="4280756" y="0"/>
                  <a:pt x="4331970" y="51214"/>
                  <a:pt x="4331970" y="114295"/>
                </a:cubicBezTo>
                <a:lnTo>
                  <a:pt x="4331970" y="1074425"/>
                </a:lnTo>
                <a:cubicBezTo>
                  <a:pt x="4331970" y="1137548"/>
                  <a:pt x="4280798" y="1188720"/>
                  <a:pt x="4217675" y="1188720"/>
                </a:cubicBezTo>
                <a:lnTo>
                  <a:pt x="114295" y="1188720"/>
                </a:lnTo>
                <a:cubicBezTo>
                  <a:pt x="51214" y="1188720"/>
                  <a:pt x="0" y="1137506"/>
                  <a:pt x="0" y="1074425"/>
                </a:cubicBezTo>
                <a:lnTo>
                  <a:pt x="0" y="114295"/>
                </a:lnTo>
                <a:cubicBezTo>
                  <a:pt x="0" y="51214"/>
                  <a:pt x="51214" y="0"/>
                  <a:pt x="114295" y="0"/>
                </a:cubicBezTo>
                <a:close/>
              </a:path>
            </a:pathLst>
          </a:custGeom>
          <a:gradFill rotWithShape="1" flip="none">
            <a:gsLst>
              <a:gs pos="0">
                <a:srgbClr val="D97706">
                  <a:alpha val="20000"/>
                </a:srgbClr>
              </a:gs>
              <a:gs pos="100000">
                <a:srgbClr val="D97706">
                  <a:alpha val="5000"/>
                </a:srgbClr>
              </a:gs>
            </a:gsLst>
            <a:lin ang="2700000" scaled="1"/>
          </a:gradFill>
          <a:ln w="10160">
            <a:solidFill>
              <a:srgbClr val="D97706">
                <a:alpha val="4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689175" y="170307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130775" y="171450"/>
                </a:moveTo>
                <a:cubicBezTo>
                  <a:pt x="134035" y="161493"/>
                  <a:pt x="140553" y="152474"/>
                  <a:pt x="147920" y="144706"/>
                </a:cubicBezTo>
                <a:cubicBezTo>
                  <a:pt x="162520" y="129347"/>
                  <a:pt x="171450" y="108585"/>
                  <a:pt x="171450" y="85725"/>
                </a:cubicBezTo>
                <a:cubicBezTo>
                  <a:pt x="171450" y="38398"/>
                  <a:pt x="133052" y="0"/>
                  <a:pt x="85725" y="0"/>
                </a:cubicBezTo>
                <a:cubicBezTo>
                  <a:pt x="38398" y="0"/>
                  <a:pt x="0" y="38398"/>
                  <a:pt x="0" y="85725"/>
                </a:cubicBezTo>
                <a:cubicBezTo>
                  <a:pt x="0" y="108585"/>
                  <a:pt x="8930" y="129347"/>
                  <a:pt x="23530" y="144706"/>
                </a:cubicBezTo>
                <a:cubicBezTo>
                  <a:pt x="30897" y="152474"/>
                  <a:pt x="37460" y="161493"/>
                  <a:pt x="40675" y="171450"/>
                </a:cubicBezTo>
                <a:lnTo>
                  <a:pt x="130731" y="171450"/>
                </a:lnTo>
                <a:close/>
                <a:moveTo>
                  <a:pt x="128588" y="192881"/>
                </a:moveTo>
                <a:lnTo>
                  <a:pt x="42863" y="192881"/>
                </a:lnTo>
                <a:lnTo>
                  <a:pt x="42863" y="200025"/>
                </a:lnTo>
                <a:cubicBezTo>
                  <a:pt x="42863" y="219760"/>
                  <a:pt x="58847" y="235744"/>
                  <a:pt x="78581" y="235744"/>
                </a:cubicBezTo>
                <a:lnTo>
                  <a:pt x="92869" y="235744"/>
                </a:lnTo>
                <a:cubicBezTo>
                  <a:pt x="112603" y="235744"/>
                  <a:pt x="128588" y="219760"/>
                  <a:pt x="128588" y="200025"/>
                </a:cubicBezTo>
                <a:lnTo>
                  <a:pt x="128588" y="192881"/>
                </a:lnTo>
                <a:close/>
                <a:moveTo>
                  <a:pt x="82153" y="50006"/>
                </a:moveTo>
                <a:cubicBezTo>
                  <a:pt x="64383" y="50006"/>
                  <a:pt x="50006" y="64383"/>
                  <a:pt x="50006" y="82153"/>
                </a:cubicBezTo>
                <a:cubicBezTo>
                  <a:pt x="50006" y="88091"/>
                  <a:pt x="45229" y="92869"/>
                  <a:pt x="39291" y="92869"/>
                </a:cubicBezTo>
                <a:cubicBezTo>
                  <a:pt x="33352" y="92869"/>
                  <a:pt x="28575" y="88091"/>
                  <a:pt x="28575" y="82153"/>
                </a:cubicBezTo>
                <a:cubicBezTo>
                  <a:pt x="28575" y="52551"/>
                  <a:pt x="52551" y="28575"/>
                  <a:pt x="82153" y="28575"/>
                </a:cubicBezTo>
                <a:cubicBezTo>
                  <a:pt x="88091" y="28575"/>
                  <a:pt x="92869" y="33352"/>
                  <a:pt x="92869" y="39291"/>
                </a:cubicBezTo>
                <a:cubicBezTo>
                  <a:pt x="92869" y="45229"/>
                  <a:pt x="88091" y="50006"/>
                  <a:pt x="82153" y="50006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18" name="Text 16"/>
          <p:cNvSpPr/>
          <p:nvPr/>
        </p:nvSpPr>
        <p:spPr>
          <a:xfrm>
            <a:off x="8032075" y="1588770"/>
            <a:ext cx="3686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26" kern="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Insight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032075" y="1817370"/>
            <a:ext cx="3695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3F4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Certain times of day produce higher engagement levels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88620" y="2575561"/>
            <a:ext cx="11416665" cy="3891915"/>
          </a:xfrm>
          <a:custGeom>
            <a:avLst/>
            <a:gdLst/>
            <a:ahLst/>
            <a:cxnLst/>
            <a:rect l="l" t="t" r="r" b="b"/>
            <a:pathLst>
              <a:path w="11416665" h="3891915">
                <a:moveTo>
                  <a:pt x="152407" y="0"/>
                </a:moveTo>
                <a:lnTo>
                  <a:pt x="11264258" y="0"/>
                </a:lnTo>
                <a:cubicBezTo>
                  <a:pt x="11348430" y="0"/>
                  <a:pt x="11416665" y="68235"/>
                  <a:pt x="11416665" y="152407"/>
                </a:cubicBezTo>
                <a:lnTo>
                  <a:pt x="11416665" y="3739508"/>
                </a:lnTo>
                <a:cubicBezTo>
                  <a:pt x="11416665" y="3823680"/>
                  <a:pt x="11348430" y="3891915"/>
                  <a:pt x="11264258" y="3891915"/>
                </a:cubicBezTo>
                <a:lnTo>
                  <a:pt x="152407" y="3891915"/>
                </a:lnTo>
                <a:cubicBezTo>
                  <a:pt x="68235" y="3891915"/>
                  <a:pt x="0" y="3823680"/>
                  <a:pt x="0" y="3739508"/>
                </a:cubicBezTo>
                <a:lnTo>
                  <a:pt x="0" y="152407"/>
                </a:lnTo>
                <a:cubicBezTo>
                  <a:pt x="0" y="68291"/>
                  <a:pt x="68291" y="0"/>
                  <a:pt x="152407" y="0"/>
                </a:cubicBezTo>
                <a:close/>
              </a:path>
            </a:pathLst>
          </a:custGeom>
          <a:gradFill rotWithShape="1" flip="none">
            <a:gsLst>
              <a:gs pos="0">
                <a:srgbClr val="2A2E33"/>
              </a:gs>
              <a:gs pos="100000">
                <a:srgbClr val="1A1D21"/>
              </a:gs>
            </a:gsLst>
            <a:lin ang="2700000" scaled="1"/>
          </a:gradFill>
          <a:ln w="20320">
            <a:solidFill>
              <a:srgbClr val="3C6E71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5048250" y="3474723"/>
            <a:ext cx="2095500" cy="2095500"/>
          </a:xfrm>
          <a:custGeom>
            <a:avLst/>
            <a:gdLst/>
            <a:ahLst/>
            <a:cxnLst/>
            <a:rect l="l" t="t" r="r" b="b"/>
            <a:pathLst>
              <a:path w="2095500" h="2095500">
                <a:moveTo>
                  <a:pt x="1047750" y="0"/>
                </a:moveTo>
                <a:lnTo>
                  <a:pt x="1047750" y="0"/>
                </a:lnTo>
                <a:cubicBezTo>
                  <a:pt x="1626019" y="0"/>
                  <a:pt x="2095500" y="469481"/>
                  <a:pt x="2095500" y="1047750"/>
                </a:cubicBezTo>
                <a:lnTo>
                  <a:pt x="2095500" y="1047750"/>
                </a:lnTo>
                <a:cubicBezTo>
                  <a:pt x="2095500" y="1626019"/>
                  <a:pt x="1626019" y="2095500"/>
                  <a:pt x="1047750" y="2095500"/>
                </a:cubicBezTo>
                <a:lnTo>
                  <a:pt x="1047750" y="2095500"/>
                </a:lnTo>
                <a:cubicBezTo>
                  <a:pt x="469481" y="2095500"/>
                  <a:pt x="0" y="1626019"/>
                  <a:pt x="0" y="1047750"/>
                </a:cubicBezTo>
                <a:lnTo>
                  <a:pt x="0" y="1047750"/>
                </a:lnTo>
                <a:cubicBezTo>
                  <a:pt x="0" y="469481"/>
                  <a:pt x="469481" y="0"/>
                  <a:pt x="1047750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50800">
            <a:solidFill>
              <a:srgbClr val="D9770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41620" y="3768093"/>
            <a:ext cx="1510665" cy="1510665"/>
          </a:xfrm>
          <a:custGeom>
            <a:avLst/>
            <a:gdLst/>
            <a:ahLst/>
            <a:cxnLst/>
            <a:rect l="l" t="t" r="r" b="b"/>
            <a:pathLst>
              <a:path w="1510665" h="1510665">
                <a:moveTo>
                  <a:pt x="755333" y="0"/>
                </a:moveTo>
                <a:lnTo>
                  <a:pt x="755333" y="0"/>
                </a:lnTo>
                <a:cubicBezTo>
                  <a:pt x="1172212" y="0"/>
                  <a:pt x="1510665" y="338453"/>
                  <a:pt x="1510665" y="755333"/>
                </a:cubicBezTo>
                <a:lnTo>
                  <a:pt x="1510665" y="755333"/>
                </a:lnTo>
                <a:cubicBezTo>
                  <a:pt x="1510665" y="1172212"/>
                  <a:pt x="1172212" y="1510665"/>
                  <a:pt x="755333" y="1510665"/>
                </a:cubicBezTo>
                <a:lnTo>
                  <a:pt x="755333" y="1510665"/>
                </a:lnTo>
                <a:cubicBezTo>
                  <a:pt x="338453" y="1510665"/>
                  <a:pt x="0" y="1172212"/>
                  <a:pt x="0" y="755333"/>
                </a:cubicBezTo>
                <a:lnTo>
                  <a:pt x="0" y="755333"/>
                </a:lnTo>
                <a:cubicBezTo>
                  <a:pt x="0" y="338453"/>
                  <a:pt x="338453" y="0"/>
                  <a:pt x="755332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20320">
            <a:solidFill>
              <a:srgbClr val="3C6E7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638681" y="3589023"/>
            <a:ext cx="914400" cy="914400"/>
          </a:xfrm>
          <a:custGeom>
            <a:avLst/>
            <a:gdLst/>
            <a:ahLst/>
            <a:cxnLst/>
            <a:rect l="l" t="t" r="r" b="b"/>
            <a:pathLst>
              <a:path w="914400" h="914400">
                <a:moveTo>
                  <a:pt x="457200" y="0"/>
                </a:moveTo>
                <a:lnTo>
                  <a:pt x="457200" y="0"/>
                </a:lnTo>
                <a:cubicBezTo>
                  <a:pt x="709536" y="0"/>
                  <a:pt x="914400" y="204864"/>
                  <a:pt x="914400" y="457200"/>
                </a:cubicBezTo>
                <a:lnTo>
                  <a:pt x="914400" y="457200"/>
                </a:lnTo>
                <a:cubicBezTo>
                  <a:pt x="914400" y="709536"/>
                  <a:pt x="709536" y="914400"/>
                  <a:pt x="457200" y="914400"/>
                </a:cubicBezTo>
                <a:lnTo>
                  <a:pt x="457200" y="914400"/>
                </a:lnTo>
                <a:cubicBezTo>
                  <a:pt x="204864" y="914400"/>
                  <a:pt x="0" y="709536"/>
                  <a:pt x="0" y="457200"/>
                </a:cubicBezTo>
                <a:lnTo>
                  <a:pt x="0" y="457200"/>
                </a:lnTo>
                <a:cubicBezTo>
                  <a:pt x="0" y="204864"/>
                  <a:pt x="204864" y="0"/>
                  <a:pt x="457200" y="0"/>
                </a:cubicBezTo>
                <a:close/>
              </a:path>
            </a:pathLst>
          </a:custGeom>
          <a:solidFill>
            <a:srgbClr val="D97706">
              <a:alpha val="2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5924431" y="3874773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21431" y="21431"/>
                </a:moveTo>
                <a:cubicBezTo>
                  <a:pt x="33285" y="21431"/>
                  <a:pt x="42863" y="31008"/>
                  <a:pt x="42863" y="42863"/>
                </a:cubicBezTo>
                <a:lnTo>
                  <a:pt x="42863" y="267891"/>
                </a:lnTo>
                <a:cubicBezTo>
                  <a:pt x="42863" y="273784"/>
                  <a:pt x="47685" y="278606"/>
                  <a:pt x="53578" y="278606"/>
                </a:cubicBezTo>
                <a:lnTo>
                  <a:pt x="321469" y="278606"/>
                </a:lnTo>
                <a:cubicBezTo>
                  <a:pt x="333323" y="278606"/>
                  <a:pt x="342900" y="288183"/>
                  <a:pt x="342900" y="300038"/>
                </a:cubicBezTo>
                <a:cubicBezTo>
                  <a:pt x="342900" y="311892"/>
                  <a:pt x="333323" y="321469"/>
                  <a:pt x="321469" y="321469"/>
                </a:cubicBezTo>
                <a:lnTo>
                  <a:pt x="53578" y="321469"/>
                </a:lnTo>
                <a:cubicBezTo>
                  <a:pt x="23976" y="321469"/>
                  <a:pt x="0" y="297493"/>
                  <a:pt x="0" y="267891"/>
                </a:cubicBezTo>
                <a:lnTo>
                  <a:pt x="0" y="42863"/>
                </a:lnTo>
                <a:cubicBezTo>
                  <a:pt x="0" y="31008"/>
                  <a:pt x="9577" y="21431"/>
                  <a:pt x="21431" y="21431"/>
                </a:cubicBezTo>
                <a:close/>
                <a:moveTo>
                  <a:pt x="160734" y="64294"/>
                </a:moveTo>
                <a:cubicBezTo>
                  <a:pt x="165222" y="64294"/>
                  <a:pt x="169508" y="66169"/>
                  <a:pt x="172589" y="69518"/>
                </a:cubicBezTo>
                <a:lnTo>
                  <a:pt x="220206" y="121421"/>
                </a:lnTo>
                <a:lnTo>
                  <a:pt x="251147" y="90413"/>
                </a:lnTo>
                <a:cubicBezTo>
                  <a:pt x="257443" y="84118"/>
                  <a:pt x="267623" y="84118"/>
                  <a:pt x="273851" y="90413"/>
                </a:cubicBezTo>
                <a:lnTo>
                  <a:pt x="316714" y="133276"/>
                </a:lnTo>
                <a:cubicBezTo>
                  <a:pt x="319727" y="136289"/>
                  <a:pt x="321402" y="140375"/>
                  <a:pt x="321402" y="144661"/>
                </a:cubicBezTo>
                <a:lnTo>
                  <a:pt x="321402" y="219670"/>
                </a:lnTo>
                <a:cubicBezTo>
                  <a:pt x="321402" y="228578"/>
                  <a:pt x="314236" y="235744"/>
                  <a:pt x="305328" y="235744"/>
                </a:cubicBezTo>
                <a:lnTo>
                  <a:pt x="101731" y="235744"/>
                </a:lnTo>
                <a:cubicBezTo>
                  <a:pt x="92824" y="235744"/>
                  <a:pt x="85658" y="228578"/>
                  <a:pt x="85658" y="219670"/>
                </a:cubicBezTo>
                <a:lnTo>
                  <a:pt x="85658" y="144661"/>
                </a:lnTo>
                <a:cubicBezTo>
                  <a:pt x="85658" y="140643"/>
                  <a:pt x="87198" y="136758"/>
                  <a:pt x="89877" y="133811"/>
                </a:cubicBezTo>
                <a:lnTo>
                  <a:pt x="148813" y="69518"/>
                </a:lnTo>
                <a:cubicBezTo>
                  <a:pt x="151827" y="66169"/>
                  <a:pt x="156180" y="64294"/>
                  <a:pt x="160667" y="64294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25" name="Text 23"/>
          <p:cNvSpPr/>
          <p:nvPr/>
        </p:nvSpPr>
        <p:spPr>
          <a:xfrm>
            <a:off x="4333280" y="4732023"/>
            <a:ext cx="3524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Insert Power BI Visual Here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361855" y="5189223"/>
            <a:ext cx="3467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Time of Day Engagement Chart</a:t>
            </a:r>
            <a:endParaRPr lang="en-US" sz="1600" dirty="0"/>
          </a:p>
        </p:txBody>
      </p:sp>
      <p:pic>
        <p:nvPicPr>
          <p:cNvPr id="27" name="Image 0" descr="https://kimi-img.moonshot.cn/pub/slides/26-03-06-20:42:04-d6lcn73mv21pfqgdo2d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2575561"/>
            <a:ext cx="11426786" cy="3919018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572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3C6E71"/>
          </a:solidFill>
          <a:ln/>
        </p:spPr>
      </p:sp>
      <p:sp>
        <p:nvSpPr>
          <p:cNvPr id="3" name="Shape 1"/>
          <p:cNvSpPr/>
          <p:nvPr/>
        </p:nvSpPr>
        <p:spPr>
          <a:xfrm>
            <a:off x="490538" y="590550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71438" y="23812"/>
                </a:moveTo>
                <a:cubicBezTo>
                  <a:pt x="71438" y="10678"/>
                  <a:pt x="82116" y="0"/>
                  <a:pt x="95250" y="0"/>
                </a:cubicBezTo>
                <a:lnTo>
                  <a:pt x="214313" y="0"/>
                </a:lnTo>
                <a:cubicBezTo>
                  <a:pt x="227447" y="0"/>
                  <a:pt x="238125" y="10678"/>
                  <a:pt x="238125" y="23812"/>
                </a:cubicBezTo>
                <a:lnTo>
                  <a:pt x="238125" y="107156"/>
                </a:lnTo>
                <a:cubicBezTo>
                  <a:pt x="238125" y="120290"/>
                  <a:pt x="227447" y="130969"/>
                  <a:pt x="214313" y="130969"/>
                </a:cubicBezTo>
                <a:lnTo>
                  <a:pt x="95250" y="130969"/>
                </a:lnTo>
                <a:cubicBezTo>
                  <a:pt x="82116" y="130969"/>
                  <a:pt x="71438" y="120290"/>
                  <a:pt x="71438" y="107156"/>
                </a:cubicBezTo>
                <a:lnTo>
                  <a:pt x="71438" y="23812"/>
                </a:lnTo>
                <a:close/>
                <a:moveTo>
                  <a:pt x="119063" y="35719"/>
                </a:moveTo>
                <a:cubicBezTo>
                  <a:pt x="119063" y="29148"/>
                  <a:pt x="113727" y="23812"/>
                  <a:pt x="107156" y="23812"/>
                </a:cubicBezTo>
                <a:cubicBezTo>
                  <a:pt x="100585" y="23812"/>
                  <a:pt x="95250" y="29148"/>
                  <a:pt x="95250" y="35719"/>
                </a:cubicBezTo>
                <a:cubicBezTo>
                  <a:pt x="95250" y="42290"/>
                  <a:pt x="100585" y="47625"/>
                  <a:pt x="107156" y="47625"/>
                </a:cubicBezTo>
                <a:cubicBezTo>
                  <a:pt x="113727" y="47625"/>
                  <a:pt x="119063" y="42290"/>
                  <a:pt x="119063" y="35719"/>
                </a:cubicBezTo>
                <a:close/>
                <a:moveTo>
                  <a:pt x="177292" y="39998"/>
                </a:moveTo>
                <a:cubicBezTo>
                  <a:pt x="175654" y="37356"/>
                  <a:pt x="172789" y="35719"/>
                  <a:pt x="169664" y="35719"/>
                </a:cubicBezTo>
                <a:cubicBezTo>
                  <a:pt x="166539" y="35719"/>
                  <a:pt x="163674" y="37356"/>
                  <a:pt x="162037" y="39998"/>
                </a:cubicBezTo>
                <a:lnTo>
                  <a:pt x="141945" y="72851"/>
                </a:lnTo>
                <a:lnTo>
                  <a:pt x="135285" y="63326"/>
                </a:lnTo>
                <a:cubicBezTo>
                  <a:pt x="133610" y="60945"/>
                  <a:pt x="130894" y="59531"/>
                  <a:pt x="127955" y="59531"/>
                </a:cubicBezTo>
                <a:cubicBezTo>
                  <a:pt x="125016" y="59531"/>
                  <a:pt x="122300" y="60945"/>
                  <a:pt x="120625" y="63326"/>
                </a:cubicBezTo>
                <a:lnTo>
                  <a:pt x="99789" y="93092"/>
                </a:lnTo>
                <a:cubicBezTo>
                  <a:pt x="97892" y="95808"/>
                  <a:pt x="97631" y="99380"/>
                  <a:pt x="99194" y="102319"/>
                </a:cubicBezTo>
                <a:cubicBezTo>
                  <a:pt x="100757" y="105259"/>
                  <a:pt x="103845" y="107156"/>
                  <a:pt x="107156" y="107156"/>
                </a:cubicBezTo>
                <a:lnTo>
                  <a:pt x="202406" y="107156"/>
                </a:lnTo>
                <a:cubicBezTo>
                  <a:pt x="205643" y="107156"/>
                  <a:pt x="208620" y="105408"/>
                  <a:pt x="210183" y="102580"/>
                </a:cubicBezTo>
                <a:cubicBezTo>
                  <a:pt x="211745" y="99752"/>
                  <a:pt x="211708" y="96329"/>
                  <a:pt x="209996" y="93538"/>
                </a:cubicBezTo>
                <a:lnTo>
                  <a:pt x="177254" y="39960"/>
                </a:lnTo>
                <a:close/>
                <a:moveTo>
                  <a:pt x="53578" y="47625"/>
                </a:moveTo>
                <a:lnTo>
                  <a:pt x="53578" y="107156"/>
                </a:lnTo>
                <a:cubicBezTo>
                  <a:pt x="53578" y="130187"/>
                  <a:pt x="72219" y="148828"/>
                  <a:pt x="95250" y="148828"/>
                </a:cubicBezTo>
                <a:lnTo>
                  <a:pt x="166688" y="148828"/>
                </a:lnTo>
                <a:lnTo>
                  <a:pt x="166688" y="154781"/>
                </a:lnTo>
                <a:cubicBezTo>
                  <a:pt x="166688" y="167915"/>
                  <a:pt x="156009" y="178594"/>
                  <a:pt x="142875" y="178594"/>
                </a:cubicBezTo>
                <a:lnTo>
                  <a:pt x="23812" y="178594"/>
                </a:lnTo>
                <a:cubicBezTo>
                  <a:pt x="10678" y="178594"/>
                  <a:pt x="0" y="167915"/>
                  <a:pt x="0" y="154781"/>
                </a:cubicBezTo>
                <a:lnTo>
                  <a:pt x="0" y="71438"/>
                </a:lnTo>
                <a:cubicBezTo>
                  <a:pt x="0" y="58303"/>
                  <a:pt x="10678" y="47625"/>
                  <a:pt x="23812" y="47625"/>
                </a:cubicBezTo>
                <a:lnTo>
                  <a:pt x="53578" y="47625"/>
                </a:lnTo>
                <a:close/>
                <a:moveTo>
                  <a:pt x="19348" y="72926"/>
                </a:moveTo>
                <a:lnTo>
                  <a:pt x="19348" y="81855"/>
                </a:lnTo>
                <a:cubicBezTo>
                  <a:pt x="19348" y="85130"/>
                  <a:pt x="22027" y="87809"/>
                  <a:pt x="25301" y="87809"/>
                </a:cubicBezTo>
                <a:lnTo>
                  <a:pt x="34230" y="87809"/>
                </a:lnTo>
                <a:cubicBezTo>
                  <a:pt x="37505" y="87809"/>
                  <a:pt x="40184" y="85130"/>
                  <a:pt x="40184" y="81855"/>
                </a:cubicBezTo>
                <a:lnTo>
                  <a:pt x="40184" y="72926"/>
                </a:lnTo>
                <a:cubicBezTo>
                  <a:pt x="40184" y="69652"/>
                  <a:pt x="37505" y="66973"/>
                  <a:pt x="34230" y="66973"/>
                </a:cubicBezTo>
                <a:lnTo>
                  <a:pt x="25301" y="66973"/>
                </a:lnTo>
                <a:cubicBezTo>
                  <a:pt x="22027" y="66973"/>
                  <a:pt x="19348" y="69652"/>
                  <a:pt x="19348" y="72926"/>
                </a:cubicBezTo>
                <a:close/>
                <a:moveTo>
                  <a:pt x="25301" y="102691"/>
                </a:moveTo>
                <a:cubicBezTo>
                  <a:pt x="22027" y="102691"/>
                  <a:pt x="19348" y="105370"/>
                  <a:pt x="19348" y="108645"/>
                </a:cubicBezTo>
                <a:lnTo>
                  <a:pt x="19348" y="117574"/>
                </a:lnTo>
                <a:cubicBezTo>
                  <a:pt x="19348" y="120848"/>
                  <a:pt x="22027" y="123527"/>
                  <a:pt x="25301" y="123527"/>
                </a:cubicBezTo>
                <a:lnTo>
                  <a:pt x="34230" y="123527"/>
                </a:lnTo>
                <a:cubicBezTo>
                  <a:pt x="37505" y="123527"/>
                  <a:pt x="40184" y="120848"/>
                  <a:pt x="40184" y="117574"/>
                </a:cubicBezTo>
                <a:lnTo>
                  <a:pt x="40184" y="108645"/>
                </a:lnTo>
                <a:cubicBezTo>
                  <a:pt x="40184" y="105370"/>
                  <a:pt x="37505" y="102691"/>
                  <a:pt x="34230" y="102691"/>
                </a:cubicBezTo>
                <a:lnTo>
                  <a:pt x="25301" y="102691"/>
                </a:lnTo>
                <a:close/>
                <a:moveTo>
                  <a:pt x="25301" y="138410"/>
                </a:moveTo>
                <a:cubicBezTo>
                  <a:pt x="22027" y="138410"/>
                  <a:pt x="19348" y="141089"/>
                  <a:pt x="19348" y="144363"/>
                </a:cubicBezTo>
                <a:lnTo>
                  <a:pt x="19348" y="153293"/>
                </a:lnTo>
                <a:cubicBezTo>
                  <a:pt x="19348" y="156567"/>
                  <a:pt x="22027" y="159246"/>
                  <a:pt x="25301" y="159246"/>
                </a:cubicBezTo>
                <a:lnTo>
                  <a:pt x="34230" y="159246"/>
                </a:lnTo>
                <a:cubicBezTo>
                  <a:pt x="37505" y="159246"/>
                  <a:pt x="40184" y="156567"/>
                  <a:pt x="40184" y="153293"/>
                </a:cubicBezTo>
                <a:lnTo>
                  <a:pt x="40184" y="144363"/>
                </a:lnTo>
                <a:cubicBezTo>
                  <a:pt x="40184" y="141089"/>
                  <a:pt x="37505" y="138410"/>
                  <a:pt x="34230" y="138410"/>
                </a:cubicBezTo>
                <a:lnTo>
                  <a:pt x="25301" y="138410"/>
                </a:lnTo>
                <a:close/>
              </a:path>
            </a:pathLst>
          </a:custGeom>
          <a:solidFill>
            <a:srgbClr val="F3F4F6"/>
          </a:solidFill>
          <a:ln/>
        </p:spPr>
      </p:sp>
      <p:sp>
        <p:nvSpPr>
          <p:cNvPr id="4" name="Text 2"/>
          <p:cNvSpPr/>
          <p:nvPr/>
        </p:nvSpPr>
        <p:spPr>
          <a:xfrm>
            <a:off x="990600" y="381000"/>
            <a:ext cx="4029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60" kern="0" dirty="0">
                <a:solidFill>
                  <a:srgbClr val="3C6E7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Content Format Analysis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90600" y="609600"/>
            <a:ext cx="41243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3F4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Engagement by Post Type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4810" y="1223010"/>
            <a:ext cx="5703570" cy="807720"/>
          </a:xfrm>
          <a:custGeom>
            <a:avLst/>
            <a:gdLst/>
            <a:ahLst/>
            <a:cxnLst/>
            <a:rect l="l" t="t" r="r" b="b"/>
            <a:pathLst>
              <a:path w="5703570" h="807720">
                <a:moveTo>
                  <a:pt x="114300" y="0"/>
                </a:moveTo>
                <a:lnTo>
                  <a:pt x="5589270" y="0"/>
                </a:lnTo>
                <a:cubicBezTo>
                  <a:pt x="5652396" y="0"/>
                  <a:pt x="5703570" y="51174"/>
                  <a:pt x="5703570" y="114300"/>
                </a:cubicBezTo>
                <a:lnTo>
                  <a:pt x="5703570" y="693420"/>
                </a:lnTo>
                <a:cubicBezTo>
                  <a:pt x="5703570" y="756546"/>
                  <a:pt x="5652396" y="807720"/>
                  <a:pt x="5589270" y="807720"/>
                </a:cubicBezTo>
                <a:lnTo>
                  <a:pt x="114300" y="807720"/>
                </a:lnTo>
                <a:cubicBezTo>
                  <a:pt x="51216" y="807720"/>
                  <a:pt x="0" y="756504"/>
                  <a:pt x="0" y="69342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2A2E33"/>
          </a:solidFill>
          <a:ln w="10160">
            <a:solidFill>
              <a:srgbClr val="3C6E71">
                <a:alpha val="30196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1020" y="1379223"/>
            <a:ext cx="54673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3F4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comparative analysis between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image posts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F3F4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video posts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F3F4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reveals how content format influences audience engagement and interaction patterns.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49353" y="1223010"/>
            <a:ext cx="5560695" cy="807720"/>
          </a:xfrm>
          <a:custGeom>
            <a:avLst/>
            <a:gdLst/>
            <a:ahLst/>
            <a:cxnLst/>
            <a:rect l="l" t="t" r="r" b="b"/>
            <a:pathLst>
              <a:path w="5560695" h="807720">
                <a:moveTo>
                  <a:pt x="114300" y="0"/>
                </a:moveTo>
                <a:lnTo>
                  <a:pt x="5446395" y="0"/>
                </a:lnTo>
                <a:cubicBezTo>
                  <a:pt x="5509521" y="0"/>
                  <a:pt x="5560695" y="51174"/>
                  <a:pt x="5560695" y="114300"/>
                </a:cubicBezTo>
                <a:lnTo>
                  <a:pt x="5560695" y="693420"/>
                </a:lnTo>
                <a:cubicBezTo>
                  <a:pt x="5560695" y="756546"/>
                  <a:pt x="5509521" y="807720"/>
                  <a:pt x="5446395" y="807720"/>
                </a:cubicBezTo>
                <a:lnTo>
                  <a:pt x="114300" y="807720"/>
                </a:lnTo>
                <a:cubicBezTo>
                  <a:pt x="51216" y="807720"/>
                  <a:pt x="0" y="756504"/>
                  <a:pt x="0" y="69342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rotWithShape="1" flip="none">
            <a:gsLst>
              <a:gs pos="0">
                <a:srgbClr val="3C6E71">
                  <a:alpha val="20000"/>
                </a:srgbClr>
              </a:gs>
              <a:gs pos="100000">
                <a:srgbClr val="3C6E71">
                  <a:alpha val="5000"/>
                </a:srgbClr>
              </a:gs>
            </a:gsLst>
            <a:lin ang="2700000" scaled="1"/>
          </a:gradFill>
          <a:ln w="10160">
            <a:solidFill>
              <a:srgbClr val="3C6E71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62713" y="1512573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130775" y="171450"/>
                </a:moveTo>
                <a:cubicBezTo>
                  <a:pt x="134035" y="161493"/>
                  <a:pt x="140553" y="152474"/>
                  <a:pt x="147920" y="144706"/>
                </a:cubicBezTo>
                <a:cubicBezTo>
                  <a:pt x="162520" y="129347"/>
                  <a:pt x="171450" y="108585"/>
                  <a:pt x="171450" y="85725"/>
                </a:cubicBezTo>
                <a:cubicBezTo>
                  <a:pt x="171450" y="38398"/>
                  <a:pt x="133052" y="0"/>
                  <a:pt x="85725" y="0"/>
                </a:cubicBezTo>
                <a:cubicBezTo>
                  <a:pt x="38398" y="0"/>
                  <a:pt x="0" y="38398"/>
                  <a:pt x="0" y="85725"/>
                </a:cubicBezTo>
                <a:cubicBezTo>
                  <a:pt x="0" y="108585"/>
                  <a:pt x="8930" y="129347"/>
                  <a:pt x="23530" y="144706"/>
                </a:cubicBezTo>
                <a:cubicBezTo>
                  <a:pt x="30897" y="152474"/>
                  <a:pt x="37460" y="161493"/>
                  <a:pt x="40675" y="171450"/>
                </a:cubicBezTo>
                <a:lnTo>
                  <a:pt x="130731" y="171450"/>
                </a:lnTo>
                <a:close/>
                <a:moveTo>
                  <a:pt x="128588" y="192881"/>
                </a:moveTo>
                <a:lnTo>
                  <a:pt x="42863" y="192881"/>
                </a:lnTo>
                <a:lnTo>
                  <a:pt x="42863" y="200025"/>
                </a:lnTo>
                <a:cubicBezTo>
                  <a:pt x="42863" y="219760"/>
                  <a:pt x="58847" y="235744"/>
                  <a:pt x="78581" y="235744"/>
                </a:cubicBezTo>
                <a:lnTo>
                  <a:pt x="92869" y="235744"/>
                </a:lnTo>
                <a:cubicBezTo>
                  <a:pt x="112603" y="235744"/>
                  <a:pt x="128588" y="219760"/>
                  <a:pt x="128588" y="200025"/>
                </a:cubicBezTo>
                <a:lnTo>
                  <a:pt x="128588" y="192881"/>
                </a:lnTo>
                <a:close/>
                <a:moveTo>
                  <a:pt x="82153" y="50006"/>
                </a:moveTo>
                <a:cubicBezTo>
                  <a:pt x="64383" y="50006"/>
                  <a:pt x="50006" y="64383"/>
                  <a:pt x="50006" y="82153"/>
                </a:cubicBezTo>
                <a:cubicBezTo>
                  <a:pt x="50006" y="88091"/>
                  <a:pt x="45229" y="92869"/>
                  <a:pt x="39291" y="92869"/>
                </a:cubicBezTo>
                <a:cubicBezTo>
                  <a:pt x="33352" y="92869"/>
                  <a:pt x="28575" y="88091"/>
                  <a:pt x="28575" y="82153"/>
                </a:cubicBezTo>
                <a:cubicBezTo>
                  <a:pt x="28575" y="52551"/>
                  <a:pt x="52551" y="28575"/>
                  <a:pt x="82153" y="28575"/>
                </a:cubicBezTo>
                <a:cubicBezTo>
                  <a:pt x="88091" y="28575"/>
                  <a:pt x="92869" y="33352"/>
                  <a:pt x="92869" y="39291"/>
                </a:cubicBezTo>
                <a:cubicBezTo>
                  <a:pt x="92869" y="45229"/>
                  <a:pt x="88091" y="50006"/>
                  <a:pt x="82153" y="50006"/>
                </a:cubicBezTo>
                <a:close/>
              </a:path>
            </a:pathLst>
          </a:custGeom>
          <a:solidFill>
            <a:srgbClr val="3C6E71"/>
          </a:solidFill>
          <a:ln/>
        </p:spPr>
      </p:sp>
      <p:sp>
        <p:nvSpPr>
          <p:cNvPr id="10" name="Text 8"/>
          <p:cNvSpPr/>
          <p:nvPr/>
        </p:nvSpPr>
        <p:spPr>
          <a:xfrm>
            <a:off x="6805613" y="1398273"/>
            <a:ext cx="4914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26" kern="0" dirty="0">
                <a:solidFill>
                  <a:srgbClr val="3C6E7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Insight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805613" y="1626873"/>
            <a:ext cx="4924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3F4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Video posts tend to generate slightly higher engagement than image posts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88620" y="2194561"/>
            <a:ext cx="11416665" cy="4272915"/>
          </a:xfrm>
          <a:custGeom>
            <a:avLst/>
            <a:gdLst/>
            <a:ahLst/>
            <a:cxnLst/>
            <a:rect l="l" t="t" r="r" b="b"/>
            <a:pathLst>
              <a:path w="11416665" h="4272915">
                <a:moveTo>
                  <a:pt x="152415" y="0"/>
                </a:moveTo>
                <a:lnTo>
                  <a:pt x="11264250" y="0"/>
                </a:lnTo>
                <a:cubicBezTo>
                  <a:pt x="11348427" y="0"/>
                  <a:pt x="11416665" y="68238"/>
                  <a:pt x="11416665" y="152415"/>
                </a:cubicBezTo>
                <a:lnTo>
                  <a:pt x="11416665" y="4120500"/>
                </a:lnTo>
                <a:cubicBezTo>
                  <a:pt x="11416665" y="4204677"/>
                  <a:pt x="11348427" y="4272915"/>
                  <a:pt x="11264250" y="4272915"/>
                </a:cubicBezTo>
                <a:lnTo>
                  <a:pt x="152415" y="4272915"/>
                </a:lnTo>
                <a:cubicBezTo>
                  <a:pt x="68238" y="4272915"/>
                  <a:pt x="0" y="4204677"/>
                  <a:pt x="0" y="4120500"/>
                </a:cubicBezTo>
                <a:lnTo>
                  <a:pt x="0" y="152415"/>
                </a:lnTo>
                <a:cubicBezTo>
                  <a:pt x="0" y="68238"/>
                  <a:pt x="68238" y="0"/>
                  <a:pt x="152415" y="0"/>
                </a:cubicBezTo>
                <a:close/>
              </a:path>
            </a:pathLst>
          </a:custGeom>
          <a:gradFill rotWithShape="1" flip="none">
            <a:gsLst>
              <a:gs pos="0">
                <a:srgbClr val="2A2E33"/>
              </a:gs>
              <a:gs pos="100000">
                <a:srgbClr val="1A1D21"/>
              </a:gs>
            </a:gsLst>
            <a:lin ang="2700000" scaled="1"/>
          </a:gradFill>
          <a:ln w="20320">
            <a:solidFill>
              <a:srgbClr val="3C6E71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708660" y="2514602"/>
            <a:ext cx="1205865" cy="901065"/>
          </a:xfrm>
          <a:custGeom>
            <a:avLst/>
            <a:gdLst/>
            <a:ahLst/>
            <a:cxnLst/>
            <a:rect l="l" t="t" r="r" b="b"/>
            <a:pathLst>
              <a:path w="1205865" h="901065">
                <a:moveTo>
                  <a:pt x="76203" y="0"/>
                </a:moveTo>
                <a:lnTo>
                  <a:pt x="1129662" y="0"/>
                </a:lnTo>
                <a:cubicBezTo>
                  <a:pt x="1171748" y="0"/>
                  <a:pt x="1205865" y="34117"/>
                  <a:pt x="1205865" y="76203"/>
                </a:cubicBezTo>
                <a:lnTo>
                  <a:pt x="1205865" y="824862"/>
                </a:lnTo>
                <a:cubicBezTo>
                  <a:pt x="1205865" y="866948"/>
                  <a:pt x="1171748" y="901065"/>
                  <a:pt x="1129662" y="901065"/>
                </a:cubicBezTo>
                <a:lnTo>
                  <a:pt x="76203" y="901065"/>
                </a:lnTo>
                <a:cubicBezTo>
                  <a:pt x="34117" y="901065"/>
                  <a:pt x="0" y="866948"/>
                  <a:pt x="0" y="824862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20320">
            <a:solidFill>
              <a:srgbClr val="3C6E7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279380" y="5250179"/>
            <a:ext cx="1205865" cy="901065"/>
          </a:xfrm>
          <a:custGeom>
            <a:avLst/>
            <a:gdLst/>
            <a:ahLst/>
            <a:cxnLst/>
            <a:rect l="l" t="t" r="r" b="b"/>
            <a:pathLst>
              <a:path w="1205865" h="901065">
                <a:moveTo>
                  <a:pt x="76203" y="0"/>
                </a:moveTo>
                <a:lnTo>
                  <a:pt x="1129662" y="0"/>
                </a:lnTo>
                <a:cubicBezTo>
                  <a:pt x="1171748" y="0"/>
                  <a:pt x="1205865" y="34117"/>
                  <a:pt x="1205865" y="76203"/>
                </a:cubicBezTo>
                <a:lnTo>
                  <a:pt x="1205865" y="824862"/>
                </a:lnTo>
                <a:cubicBezTo>
                  <a:pt x="1205865" y="866948"/>
                  <a:pt x="1171748" y="901065"/>
                  <a:pt x="1129662" y="901065"/>
                </a:cubicBezTo>
                <a:lnTo>
                  <a:pt x="76203" y="901065"/>
                </a:lnTo>
                <a:cubicBezTo>
                  <a:pt x="34117" y="901065"/>
                  <a:pt x="0" y="866948"/>
                  <a:pt x="0" y="824862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20320">
            <a:solidFill>
              <a:srgbClr val="D9770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638681" y="3398523"/>
            <a:ext cx="914400" cy="914400"/>
          </a:xfrm>
          <a:custGeom>
            <a:avLst/>
            <a:gdLst/>
            <a:ahLst/>
            <a:cxnLst/>
            <a:rect l="l" t="t" r="r" b="b"/>
            <a:pathLst>
              <a:path w="914400" h="914400">
                <a:moveTo>
                  <a:pt x="457200" y="0"/>
                </a:moveTo>
                <a:lnTo>
                  <a:pt x="457200" y="0"/>
                </a:lnTo>
                <a:cubicBezTo>
                  <a:pt x="709536" y="0"/>
                  <a:pt x="914400" y="204864"/>
                  <a:pt x="914400" y="457200"/>
                </a:cubicBezTo>
                <a:lnTo>
                  <a:pt x="914400" y="457200"/>
                </a:lnTo>
                <a:cubicBezTo>
                  <a:pt x="914400" y="709536"/>
                  <a:pt x="709536" y="914400"/>
                  <a:pt x="457200" y="914400"/>
                </a:cubicBezTo>
                <a:lnTo>
                  <a:pt x="457200" y="914400"/>
                </a:lnTo>
                <a:cubicBezTo>
                  <a:pt x="204864" y="914400"/>
                  <a:pt x="0" y="709536"/>
                  <a:pt x="0" y="457200"/>
                </a:cubicBezTo>
                <a:lnTo>
                  <a:pt x="0" y="457200"/>
                </a:lnTo>
                <a:cubicBezTo>
                  <a:pt x="0" y="204864"/>
                  <a:pt x="204864" y="0"/>
                  <a:pt x="457200" y="0"/>
                </a:cubicBezTo>
                <a:close/>
              </a:path>
            </a:pathLst>
          </a:custGeom>
          <a:solidFill>
            <a:srgbClr val="3C6E71">
              <a:alpha val="2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5903000" y="3684273"/>
            <a:ext cx="385763" cy="342900"/>
          </a:xfrm>
          <a:custGeom>
            <a:avLst/>
            <a:gdLst/>
            <a:ahLst/>
            <a:cxnLst/>
            <a:rect l="l" t="t" r="r" b="b"/>
            <a:pathLst>
              <a:path w="385763" h="342900">
                <a:moveTo>
                  <a:pt x="64294" y="64294"/>
                </a:moveTo>
                <a:cubicBezTo>
                  <a:pt x="64294" y="40652"/>
                  <a:pt x="83515" y="21431"/>
                  <a:pt x="107156" y="21431"/>
                </a:cubicBezTo>
                <a:lnTo>
                  <a:pt x="321469" y="21431"/>
                </a:lnTo>
                <a:cubicBezTo>
                  <a:pt x="345110" y="21431"/>
                  <a:pt x="364331" y="40652"/>
                  <a:pt x="364331" y="64294"/>
                </a:cubicBezTo>
                <a:lnTo>
                  <a:pt x="364331" y="235744"/>
                </a:lnTo>
                <a:cubicBezTo>
                  <a:pt x="364331" y="259385"/>
                  <a:pt x="345110" y="278606"/>
                  <a:pt x="321469" y="278606"/>
                </a:cubicBezTo>
                <a:lnTo>
                  <a:pt x="107156" y="278606"/>
                </a:lnTo>
                <a:cubicBezTo>
                  <a:pt x="83515" y="278606"/>
                  <a:pt x="64294" y="259385"/>
                  <a:pt x="64294" y="235744"/>
                </a:cubicBezTo>
                <a:lnTo>
                  <a:pt x="64294" y="64294"/>
                </a:lnTo>
                <a:close/>
                <a:moveTo>
                  <a:pt x="16073" y="85725"/>
                </a:moveTo>
                <a:cubicBezTo>
                  <a:pt x="24981" y="85725"/>
                  <a:pt x="32147" y="92891"/>
                  <a:pt x="32147" y="101798"/>
                </a:cubicBezTo>
                <a:lnTo>
                  <a:pt x="32147" y="300038"/>
                </a:lnTo>
                <a:cubicBezTo>
                  <a:pt x="32147" y="305931"/>
                  <a:pt x="36969" y="310753"/>
                  <a:pt x="42863" y="310753"/>
                </a:cubicBezTo>
                <a:lnTo>
                  <a:pt x="283964" y="310753"/>
                </a:lnTo>
                <a:cubicBezTo>
                  <a:pt x="292871" y="310753"/>
                  <a:pt x="300038" y="317919"/>
                  <a:pt x="300038" y="326827"/>
                </a:cubicBezTo>
                <a:cubicBezTo>
                  <a:pt x="300038" y="335734"/>
                  <a:pt x="292871" y="342900"/>
                  <a:pt x="283964" y="342900"/>
                </a:cubicBezTo>
                <a:lnTo>
                  <a:pt x="42863" y="342900"/>
                </a:lnTo>
                <a:cubicBezTo>
                  <a:pt x="19221" y="342900"/>
                  <a:pt x="0" y="323679"/>
                  <a:pt x="0" y="300038"/>
                </a:cubicBezTo>
                <a:lnTo>
                  <a:pt x="0" y="101798"/>
                </a:lnTo>
                <a:cubicBezTo>
                  <a:pt x="0" y="92891"/>
                  <a:pt x="7166" y="85725"/>
                  <a:pt x="16073" y="85725"/>
                </a:cubicBezTo>
                <a:close/>
                <a:moveTo>
                  <a:pt x="128588" y="107156"/>
                </a:moveTo>
                <a:cubicBezTo>
                  <a:pt x="140416" y="107156"/>
                  <a:pt x="150019" y="97553"/>
                  <a:pt x="150019" y="85725"/>
                </a:cubicBezTo>
                <a:cubicBezTo>
                  <a:pt x="150019" y="73897"/>
                  <a:pt x="140416" y="64294"/>
                  <a:pt x="128588" y="64294"/>
                </a:cubicBezTo>
                <a:cubicBezTo>
                  <a:pt x="116759" y="64294"/>
                  <a:pt x="107156" y="73897"/>
                  <a:pt x="107156" y="85725"/>
                </a:cubicBezTo>
                <a:cubicBezTo>
                  <a:pt x="107156" y="97553"/>
                  <a:pt x="116759" y="107156"/>
                  <a:pt x="128588" y="107156"/>
                </a:cubicBezTo>
                <a:close/>
                <a:moveTo>
                  <a:pt x="260189" y="114858"/>
                </a:moveTo>
                <a:cubicBezTo>
                  <a:pt x="257242" y="110103"/>
                  <a:pt x="252085" y="107156"/>
                  <a:pt x="246459" y="107156"/>
                </a:cubicBezTo>
                <a:cubicBezTo>
                  <a:pt x="240834" y="107156"/>
                  <a:pt x="235677" y="110103"/>
                  <a:pt x="232730" y="114858"/>
                </a:cubicBezTo>
                <a:lnTo>
                  <a:pt x="195024" y="176540"/>
                </a:lnTo>
                <a:lnTo>
                  <a:pt x="178616" y="156046"/>
                </a:lnTo>
                <a:cubicBezTo>
                  <a:pt x="175535" y="152229"/>
                  <a:pt x="170981" y="150019"/>
                  <a:pt x="166092" y="150019"/>
                </a:cubicBezTo>
                <a:cubicBezTo>
                  <a:pt x="161203" y="150019"/>
                  <a:pt x="156582" y="152229"/>
                  <a:pt x="153568" y="156046"/>
                </a:cubicBezTo>
                <a:lnTo>
                  <a:pt x="110706" y="209624"/>
                </a:lnTo>
                <a:cubicBezTo>
                  <a:pt x="106821" y="214446"/>
                  <a:pt x="106085" y="221077"/>
                  <a:pt x="108764" y="226635"/>
                </a:cubicBezTo>
                <a:cubicBezTo>
                  <a:pt x="111443" y="232194"/>
                  <a:pt x="117068" y="235744"/>
                  <a:pt x="123230" y="235744"/>
                </a:cubicBezTo>
                <a:lnTo>
                  <a:pt x="305395" y="235744"/>
                </a:lnTo>
                <a:cubicBezTo>
                  <a:pt x="311222" y="235744"/>
                  <a:pt x="316580" y="232596"/>
                  <a:pt x="319393" y="227506"/>
                </a:cubicBezTo>
                <a:cubicBezTo>
                  <a:pt x="322205" y="222416"/>
                  <a:pt x="322138" y="216255"/>
                  <a:pt x="319058" y="211232"/>
                </a:cubicBezTo>
                <a:lnTo>
                  <a:pt x="260122" y="114791"/>
                </a:lnTo>
                <a:close/>
              </a:path>
            </a:pathLst>
          </a:custGeom>
          <a:solidFill>
            <a:srgbClr val="3C6E71"/>
          </a:solidFill>
          <a:ln/>
        </p:spPr>
      </p:sp>
      <p:sp>
        <p:nvSpPr>
          <p:cNvPr id="17" name="Text 15"/>
          <p:cNvSpPr/>
          <p:nvPr/>
        </p:nvSpPr>
        <p:spPr>
          <a:xfrm>
            <a:off x="4333280" y="4541523"/>
            <a:ext cx="3524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3C6E7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Insert Power BI Visual Here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361855" y="4998723"/>
            <a:ext cx="3467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Post Type Comparison Chart</a:t>
            </a:r>
            <a:endParaRPr lang="en-US" sz="1600" dirty="0"/>
          </a:p>
        </p:txBody>
      </p:sp>
      <p:pic>
        <p:nvPicPr>
          <p:cNvPr id="19" name="Image 0" descr="https://kimi-img.moonshot.cn/pub/slides/26-03-06-20:41:30-d6lcmukrhklalo1qmpp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2194561"/>
            <a:ext cx="11429048" cy="4290647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572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3" name="Shape 1"/>
          <p:cNvSpPr/>
          <p:nvPr/>
        </p:nvSpPr>
        <p:spPr>
          <a:xfrm>
            <a:off x="514350" y="5905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61540" y="119769"/>
                </a:moveTo>
                <a:cubicBezTo>
                  <a:pt x="69131" y="130187"/>
                  <a:pt x="81409" y="136922"/>
                  <a:pt x="95250" y="136922"/>
                </a:cubicBezTo>
                <a:cubicBezTo>
                  <a:pt x="109091" y="136922"/>
                  <a:pt x="121369" y="130187"/>
                  <a:pt x="128960" y="119769"/>
                </a:cubicBezTo>
                <a:cubicBezTo>
                  <a:pt x="131862" y="115788"/>
                  <a:pt x="137443" y="114895"/>
                  <a:pt x="141424" y="117797"/>
                </a:cubicBezTo>
                <a:cubicBezTo>
                  <a:pt x="145405" y="120700"/>
                  <a:pt x="146298" y="126281"/>
                  <a:pt x="143396" y="130262"/>
                </a:cubicBezTo>
                <a:cubicBezTo>
                  <a:pt x="132569" y="145107"/>
                  <a:pt x="115044" y="154781"/>
                  <a:pt x="95250" y="154781"/>
                </a:cubicBezTo>
                <a:cubicBezTo>
                  <a:pt x="75456" y="154781"/>
                  <a:pt x="57931" y="145107"/>
                  <a:pt x="47104" y="130262"/>
                </a:cubicBezTo>
                <a:cubicBezTo>
                  <a:pt x="44202" y="126281"/>
                  <a:pt x="45095" y="120700"/>
                  <a:pt x="49076" y="117797"/>
                </a:cubicBezTo>
                <a:cubicBezTo>
                  <a:pt x="53057" y="114895"/>
                  <a:pt x="58638" y="115788"/>
                  <a:pt x="61540" y="119769"/>
                </a:cubicBezTo>
                <a:close/>
                <a:moveTo>
                  <a:pt x="53578" y="77391"/>
                </a:moveTo>
                <a:cubicBezTo>
                  <a:pt x="53578" y="70819"/>
                  <a:pt x="58913" y="65484"/>
                  <a:pt x="65484" y="65484"/>
                </a:cubicBezTo>
                <a:cubicBezTo>
                  <a:pt x="72056" y="65484"/>
                  <a:pt x="77391" y="70819"/>
                  <a:pt x="77391" y="77391"/>
                </a:cubicBezTo>
                <a:cubicBezTo>
                  <a:pt x="77391" y="83962"/>
                  <a:pt x="72056" y="89297"/>
                  <a:pt x="65484" y="89297"/>
                </a:cubicBezTo>
                <a:cubicBezTo>
                  <a:pt x="58913" y="89297"/>
                  <a:pt x="53578" y="83962"/>
                  <a:pt x="53578" y="77391"/>
                </a:cubicBezTo>
                <a:close/>
                <a:moveTo>
                  <a:pt x="125016" y="65484"/>
                </a:moveTo>
                <a:cubicBezTo>
                  <a:pt x="131587" y="65484"/>
                  <a:pt x="136922" y="70819"/>
                  <a:pt x="136922" y="77391"/>
                </a:cubicBezTo>
                <a:cubicBezTo>
                  <a:pt x="136922" y="83962"/>
                  <a:pt x="131587" y="89297"/>
                  <a:pt x="125016" y="89297"/>
                </a:cubicBezTo>
                <a:cubicBezTo>
                  <a:pt x="118444" y="89297"/>
                  <a:pt x="113109" y="83962"/>
                  <a:pt x="113109" y="77391"/>
                </a:cubicBezTo>
                <a:cubicBezTo>
                  <a:pt x="113109" y="70819"/>
                  <a:pt x="118444" y="65484"/>
                  <a:pt x="125016" y="65484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4" name="Text 2"/>
          <p:cNvSpPr/>
          <p:nvPr/>
        </p:nvSpPr>
        <p:spPr>
          <a:xfrm>
            <a:off x="990600" y="381000"/>
            <a:ext cx="5495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60" kern="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Sentiment Analysis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90600" y="609600"/>
            <a:ext cx="55911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3F4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Reaction Analysis by Food Category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4810" y="1223010"/>
            <a:ext cx="7313295" cy="1226820"/>
          </a:xfrm>
          <a:custGeom>
            <a:avLst/>
            <a:gdLst/>
            <a:ahLst/>
            <a:cxnLst/>
            <a:rect l="l" t="t" r="r" b="b"/>
            <a:pathLst>
              <a:path w="7313295" h="1226820">
                <a:moveTo>
                  <a:pt x="114303" y="0"/>
                </a:moveTo>
                <a:lnTo>
                  <a:pt x="7198992" y="0"/>
                </a:lnTo>
                <a:cubicBezTo>
                  <a:pt x="7262120" y="0"/>
                  <a:pt x="7313295" y="51175"/>
                  <a:pt x="7313295" y="114303"/>
                </a:cubicBezTo>
                <a:lnTo>
                  <a:pt x="7313295" y="1112517"/>
                </a:lnTo>
                <a:cubicBezTo>
                  <a:pt x="7313295" y="1175603"/>
                  <a:pt x="7262078" y="1226820"/>
                  <a:pt x="7198992" y="1226820"/>
                </a:cubicBezTo>
                <a:lnTo>
                  <a:pt x="114303" y="1226820"/>
                </a:lnTo>
                <a:cubicBezTo>
                  <a:pt x="51175" y="1226820"/>
                  <a:pt x="0" y="1175645"/>
                  <a:pt x="0" y="1112517"/>
                </a:cubicBezTo>
                <a:lnTo>
                  <a:pt x="0" y="114303"/>
                </a:lnTo>
                <a:cubicBezTo>
                  <a:pt x="0" y="51217"/>
                  <a:pt x="51217" y="0"/>
                  <a:pt x="114303" y="0"/>
                </a:cubicBezTo>
                <a:close/>
              </a:path>
            </a:pathLst>
          </a:custGeom>
          <a:solidFill>
            <a:srgbClr val="2A2E33"/>
          </a:solidFill>
          <a:ln w="10160">
            <a:solidFill>
              <a:srgbClr val="3C6E71">
                <a:alpha val="30196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1020" y="1379223"/>
            <a:ext cx="70770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3F4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Analysis of Facebook reactions (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love, wow, sad, angry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F3F4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) across food categories reveals sentiment patterns and audience emotional responses.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1020" y="1988823"/>
            <a:ext cx="4286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F3F4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❤️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31188" y="2045852"/>
            <a:ext cx="342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3F4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Love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23618" y="1988823"/>
            <a:ext cx="4286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F3F4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😮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713786" y="2045852"/>
            <a:ext cx="400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3F4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Wow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156698" y="1988823"/>
            <a:ext cx="4286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F3F4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😢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546866" y="2045852"/>
            <a:ext cx="285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3F4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Sad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877741" y="1988823"/>
            <a:ext cx="4286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F3F4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😠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267908" y="2045852"/>
            <a:ext cx="409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3F4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Angry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855863" y="1223010"/>
            <a:ext cx="3950970" cy="1226820"/>
          </a:xfrm>
          <a:custGeom>
            <a:avLst/>
            <a:gdLst/>
            <a:ahLst/>
            <a:cxnLst/>
            <a:rect l="l" t="t" r="r" b="b"/>
            <a:pathLst>
              <a:path w="3950970" h="1226820">
                <a:moveTo>
                  <a:pt x="114303" y="0"/>
                </a:moveTo>
                <a:lnTo>
                  <a:pt x="3836667" y="0"/>
                </a:lnTo>
                <a:cubicBezTo>
                  <a:pt x="3899795" y="0"/>
                  <a:pt x="3950970" y="51175"/>
                  <a:pt x="3950970" y="114303"/>
                </a:cubicBezTo>
                <a:lnTo>
                  <a:pt x="3950970" y="1112517"/>
                </a:lnTo>
                <a:cubicBezTo>
                  <a:pt x="3950970" y="1175603"/>
                  <a:pt x="3899753" y="1226820"/>
                  <a:pt x="3836667" y="1226820"/>
                </a:cubicBezTo>
                <a:lnTo>
                  <a:pt x="114303" y="1226820"/>
                </a:lnTo>
                <a:cubicBezTo>
                  <a:pt x="51175" y="1226820"/>
                  <a:pt x="0" y="1175645"/>
                  <a:pt x="0" y="1112517"/>
                </a:cubicBezTo>
                <a:lnTo>
                  <a:pt x="0" y="114303"/>
                </a:lnTo>
                <a:cubicBezTo>
                  <a:pt x="0" y="51217"/>
                  <a:pt x="51217" y="0"/>
                  <a:pt x="114303" y="0"/>
                </a:cubicBezTo>
                <a:close/>
              </a:path>
            </a:pathLst>
          </a:custGeom>
          <a:gradFill rotWithShape="1" flip="none">
            <a:gsLst>
              <a:gs pos="0">
                <a:srgbClr val="D97706">
                  <a:alpha val="20000"/>
                </a:srgbClr>
              </a:gs>
              <a:gs pos="100000">
                <a:srgbClr val="D97706">
                  <a:alpha val="5000"/>
                </a:srgbClr>
              </a:gs>
            </a:gsLst>
            <a:lin ang="2700000" scaled="1"/>
          </a:gradFill>
          <a:ln w="10160">
            <a:solidFill>
              <a:srgbClr val="D97706">
                <a:alpha val="4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69223" y="1722002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130775" y="171450"/>
                </a:moveTo>
                <a:cubicBezTo>
                  <a:pt x="134035" y="161493"/>
                  <a:pt x="140553" y="152474"/>
                  <a:pt x="147920" y="144706"/>
                </a:cubicBezTo>
                <a:cubicBezTo>
                  <a:pt x="162520" y="129347"/>
                  <a:pt x="171450" y="108585"/>
                  <a:pt x="171450" y="85725"/>
                </a:cubicBezTo>
                <a:cubicBezTo>
                  <a:pt x="171450" y="38398"/>
                  <a:pt x="133052" y="0"/>
                  <a:pt x="85725" y="0"/>
                </a:cubicBezTo>
                <a:cubicBezTo>
                  <a:pt x="38398" y="0"/>
                  <a:pt x="0" y="38398"/>
                  <a:pt x="0" y="85725"/>
                </a:cubicBezTo>
                <a:cubicBezTo>
                  <a:pt x="0" y="108585"/>
                  <a:pt x="8930" y="129347"/>
                  <a:pt x="23530" y="144706"/>
                </a:cubicBezTo>
                <a:cubicBezTo>
                  <a:pt x="30897" y="152474"/>
                  <a:pt x="37460" y="161493"/>
                  <a:pt x="40675" y="171450"/>
                </a:cubicBezTo>
                <a:lnTo>
                  <a:pt x="130731" y="171450"/>
                </a:lnTo>
                <a:close/>
                <a:moveTo>
                  <a:pt x="128588" y="192881"/>
                </a:moveTo>
                <a:lnTo>
                  <a:pt x="42863" y="192881"/>
                </a:lnTo>
                <a:lnTo>
                  <a:pt x="42863" y="200025"/>
                </a:lnTo>
                <a:cubicBezTo>
                  <a:pt x="42863" y="219760"/>
                  <a:pt x="58847" y="235744"/>
                  <a:pt x="78581" y="235744"/>
                </a:cubicBezTo>
                <a:lnTo>
                  <a:pt x="92869" y="235744"/>
                </a:lnTo>
                <a:cubicBezTo>
                  <a:pt x="112603" y="235744"/>
                  <a:pt x="128588" y="219760"/>
                  <a:pt x="128588" y="200025"/>
                </a:cubicBezTo>
                <a:lnTo>
                  <a:pt x="128588" y="192881"/>
                </a:lnTo>
                <a:close/>
                <a:moveTo>
                  <a:pt x="82153" y="50006"/>
                </a:moveTo>
                <a:cubicBezTo>
                  <a:pt x="64383" y="50006"/>
                  <a:pt x="50006" y="64383"/>
                  <a:pt x="50006" y="82153"/>
                </a:cubicBezTo>
                <a:cubicBezTo>
                  <a:pt x="50006" y="88091"/>
                  <a:pt x="45229" y="92869"/>
                  <a:pt x="39291" y="92869"/>
                </a:cubicBezTo>
                <a:cubicBezTo>
                  <a:pt x="33352" y="92869"/>
                  <a:pt x="28575" y="88091"/>
                  <a:pt x="28575" y="82153"/>
                </a:cubicBezTo>
                <a:cubicBezTo>
                  <a:pt x="28575" y="52551"/>
                  <a:pt x="52551" y="28575"/>
                  <a:pt x="82153" y="28575"/>
                </a:cubicBezTo>
                <a:cubicBezTo>
                  <a:pt x="88091" y="28575"/>
                  <a:pt x="92869" y="33352"/>
                  <a:pt x="92869" y="39291"/>
                </a:cubicBezTo>
                <a:cubicBezTo>
                  <a:pt x="92869" y="45229"/>
                  <a:pt x="88091" y="50006"/>
                  <a:pt x="82153" y="50006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18" name="Text 16"/>
          <p:cNvSpPr/>
          <p:nvPr/>
        </p:nvSpPr>
        <p:spPr>
          <a:xfrm>
            <a:off x="8412123" y="1607702"/>
            <a:ext cx="3305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26" kern="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Insight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412123" y="1836302"/>
            <a:ext cx="3314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3F4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Positive reactions dominate engagement patterns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88620" y="2613540"/>
            <a:ext cx="11416665" cy="3853815"/>
          </a:xfrm>
          <a:custGeom>
            <a:avLst/>
            <a:gdLst/>
            <a:ahLst/>
            <a:cxnLst/>
            <a:rect l="l" t="t" r="r" b="b"/>
            <a:pathLst>
              <a:path w="11416665" h="3853815">
                <a:moveTo>
                  <a:pt x="152418" y="0"/>
                </a:moveTo>
                <a:lnTo>
                  <a:pt x="11264247" y="0"/>
                </a:lnTo>
                <a:cubicBezTo>
                  <a:pt x="11348425" y="0"/>
                  <a:pt x="11416665" y="68240"/>
                  <a:pt x="11416665" y="152418"/>
                </a:cubicBezTo>
                <a:lnTo>
                  <a:pt x="11416665" y="3701397"/>
                </a:lnTo>
                <a:cubicBezTo>
                  <a:pt x="11416665" y="3785575"/>
                  <a:pt x="11348425" y="3853815"/>
                  <a:pt x="11264247" y="3853815"/>
                </a:cubicBezTo>
                <a:lnTo>
                  <a:pt x="152418" y="3853815"/>
                </a:lnTo>
                <a:cubicBezTo>
                  <a:pt x="68240" y="3853815"/>
                  <a:pt x="0" y="3785575"/>
                  <a:pt x="0" y="3701397"/>
                </a:cubicBezTo>
                <a:lnTo>
                  <a:pt x="0" y="152418"/>
                </a:lnTo>
                <a:cubicBezTo>
                  <a:pt x="0" y="68296"/>
                  <a:pt x="68296" y="0"/>
                  <a:pt x="152418" y="0"/>
                </a:cubicBezTo>
                <a:close/>
              </a:path>
            </a:pathLst>
          </a:custGeom>
          <a:gradFill rotWithShape="1" flip="none">
            <a:gsLst>
              <a:gs pos="0">
                <a:srgbClr val="2A2E33"/>
              </a:gs>
              <a:gs pos="100000">
                <a:srgbClr val="1A1D21"/>
              </a:gs>
            </a:gsLst>
            <a:lin ang="2700000" scaled="1"/>
          </a:gradFill>
          <a:ln w="20320">
            <a:solidFill>
              <a:srgbClr val="3C6E71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777240" y="3002161"/>
            <a:ext cx="10668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500" dirty="0">
                <a:solidFill>
                  <a:srgbClr val="F3F4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❤️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630020" y="5509259"/>
            <a:ext cx="10668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500" dirty="0">
                <a:solidFill>
                  <a:srgbClr val="F3F4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😮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405944" y="4541402"/>
            <a:ext cx="8572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dirty="0">
                <a:solidFill>
                  <a:srgbClr val="F3F4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😢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158240" y="5242559"/>
            <a:ext cx="8572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dirty="0">
                <a:solidFill>
                  <a:srgbClr val="F3F4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😠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638681" y="3607952"/>
            <a:ext cx="914400" cy="914400"/>
          </a:xfrm>
          <a:custGeom>
            <a:avLst/>
            <a:gdLst/>
            <a:ahLst/>
            <a:cxnLst/>
            <a:rect l="l" t="t" r="r" b="b"/>
            <a:pathLst>
              <a:path w="914400" h="914400">
                <a:moveTo>
                  <a:pt x="457200" y="0"/>
                </a:moveTo>
                <a:lnTo>
                  <a:pt x="457200" y="0"/>
                </a:lnTo>
                <a:cubicBezTo>
                  <a:pt x="709536" y="0"/>
                  <a:pt x="914400" y="204864"/>
                  <a:pt x="914400" y="457200"/>
                </a:cubicBezTo>
                <a:lnTo>
                  <a:pt x="914400" y="457200"/>
                </a:lnTo>
                <a:cubicBezTo>
                  <a:pt x="914400" y="709536"/>
                  <a:pt x="709536" y="914400"/>
                  <a:pt x="457200" y="914400"/>
                </a:cubicBezTo>
                <a:lnTo>
                  <a:pt x="457200" y="914400"/>
                </a:lnTo>
                <a:cubicBezTo>
                  <a:pt x="204864" y="914400"/>
                  <a:pt x="0" y="709536"/>
                  <a:pt x="0" y="457200"/>
                </a:cubicBezTo>
                <a:lnTo>
                  <a:pt x="0" y="457200"/>
                </a:lnTo>
                <a:cubicBezTo>
                  <a:pt x="0" y="204864"/>
                  <a:pt x="204864" y="0"/>
                  <a:pt x="457200" y="0"/>
                </a:cubicBezTo>
                <a:close/>
              </a:path>
            </a:pathLst>
          </a:custGeom>
          <a:solidFill>
            <a:srgbClr val="D97706">
              <a:alpha val="2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5924431" y="3893702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161404" y="58333"/>
                </a:moveTo>
                <a:lnTo>
                  <a:pt x="171450" y="72197"/>
                </a:lnTo>
                <a:lnTo>
                  <a:pt x="181496" y="58333"/>
                </a:lnTo>
                <a:cubicBezTo>
                  <a:pt x="198239" y="35161"/>
                  <a:pt x="225162" y="21431"/>
                  <a:pt x="253759" y="21431"/>
                </a:cubicBezTo>
                <a:cubicBezTo>
                  <a:pt x="302984" y="21431"/>
                  <a:pt x="342900" y="61347"/>
                  <a:pt x="342900" y="110572"/>
                </a:cubicBezTo>
                <a:lnTo>
                  <a:pt x="342900" y="112313"/>
                </a:lnTo>
                <a:cubicBezTo>
                  <a:pt x="342900" y="187456"/>
                  <a:pt x="249205" y="274722"/>
                  <a:pt x="200315" y="312026"/>
                </a:cubicBezTo>
                <a:cubicBezTo>
                  <a:pt x="192011" y="318321"/>
                  <a:pt x="181831" y="321469"/>
                  <a:pt x="171450" y="321469"/>
                </a:cubicBezTo>
                <a:cubicBezTo>
                  <a:pt x="161069" y="321469"/>
                  <a:pt x="150822" y="318388"/>
                  <a:pt x="142585" y="312026"/>
                </a:cubicBezTo>
                <a:cubicBezTo>
                  <a:pt x="93695" y="274722"/>
                  <a:pt x="0" y="187456"/>
                  <a:pt x="0" y="112313"/>
                </a:cubicBezTo>
                <a:lnTo>
                  <a:pt x="0" y="110572"/>
                </a:lnTo>
                <a:cubicBezTo>
                  <a:pt x="0" y="61347"/>
                  <a:pt x="39916" y="21431"/>
                  <a:pt x="89141" y="21431"/>
                </a:cubicBezTo>
                <a:cubicBezTo>
                  <a:pt x="117738" y="21431"/>
                  <a:pt x="144661" y="35161"/>
                  <a:pt x="161404" y="58333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27" name="Text 25"/>
          <p:cNvSpPr/>
          <p:nvPr/>
        </p:nvSpPr>
        <p:spPr>
          <a:xfrm>
            <a:off x="4333280" y="4750952"/>
            <a:ext cx="3524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Insert Power BI Visual Here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361855" y="5208152"/>
            <a:ext cx="3467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Reaction Analysis Chart</a:t>
            </a:r>
            <a:endParaRPr lang="en-US" sz="1600" dirty="0"/>
          </a:p>
        </p:txBody>
      </p:sp>
      <p:pic>
        <p:nvPicPr>
          <p:cNvPr id="29" name="Image 0" descr="https://kimi-img.moonshot.cn/pub/slides/26-03-06-20:36:28-d6lckj3odd0lbe7uuij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2613540"/>
            <a:ext cx="11425833" cy="3886534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572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3C6E71"/>
          </a:solidFill>
          <a:ln/>
        </p:spPr>
      </p:sp>
      <p:sp>
        <p:nvSpPr>
          <p:cNvPr id="3" name="Shape 1"/>
          <p:cNvSpPr/>
          <p:nvPr/>
        </p:nvSpPr>
        <p:spPr>
          <a:xfrm>
            <a:off x="514350" y="5905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25016" y="130969"/>
                </a:moveTo>
                <a:cubicBezTo>
                  <a:pt x="161181" y="130969"/>
                  <a:pt x="190500" y="101650"/>
                  <a:pt x="190500" y="65484"/>
                </a:cubicBezTo>
                <a:cubicBezTo>
                  <a:pt x="190500" y="29319"/>
                  <a:pt x="161181" y="0"/>
                  <a:pt x="125016" y="0"/>
                </a:cubicBezTo>
                <a:cubicBezTo>
                  <a:pt x="88850" y="0"/>
                  <a:pt x="59531" y="29319"/>
                  <a:pt x="59531" y="65484"/>
                </a:cubicBezTo>
                <a:cubicBezTo>
                  <a:pt x="59531" y="72442"/>
                  <a:pt x="60610" y="79177"/>
                  <a:pt x="62619" y="85465"/>
                </a:cubicBezTo>
                <a:lnTo>
                  <a:pt x="2604" y="145479"/>
                </a:lnTo>
                <a:cubicBezTo>
                  <a:pt x="930" y="147154"/>
                  <a:pt x="0" y="149423"/>
                  <a:pt x="0" y="151805"/>
                </a:cubicBezTo>
                <a:lnTo>
                  <a:pt x="0" y="181570"/>
                </a:lnTo>
                <a:cubicBezTo>
                  <a:pt x="0" y="186519"/>
                  <a:pt x="3981" y="190500"/>
                  <a:pt x="8930" y="190500"/>
                </a:cubicBezTo>
                <a:lnTo>
                  <a:pt x="38695" y="190500"/>
                </a:lnTo>
                <a:cubicBezTo>
                  <a:pt x="43644" y="190500"/>
                  <a:pt x="47625" y="186519"/>
                  <a:pt x="47625" y="181570"/>
                </a:cubicBezTo>
                <a:lnTo>
                  <a:pt x="47625" y="166688"/>
                </a:lnTo>
                <a:lnTo>
                  <a:pt x="62508" y="166688"/>
                </a:lnTo>
                <a:cubicBezTo>
                  <a:pt x="67456" y="166688"/>
                  <a:pt x="71438" y="162706"/>
                  <a:pt x="71438" y="157758"/>
                </a:cubicBezTo>
                <a:lnTo>
                  <a:pt x="71438" y="142875"/>
                </a:lnTo>
                <a:lnTo>
                  <a:pt x="86320" y="142875"/>
                </a:lnTo>
                <a:cubicBezTo>
                  <a:pt x="88702" y="142875"/>
                  <a:pt x="90971" y="141945"/>
                  <a:pt x="92646" y="140271"/>
                </a:cubicBezTo>
                <a:lnTo>
                  <a:pt x="105035" y="127881"/>
                </a:lnTo>
                <a:cubicBezTo>
                  <a:pt x="111323" y="129890"/>
                  <a:pt x="118058" y="130969"/>
                  <a:pt x="125016" y="130969"/>
                </a:cubicBezTo>
                <a:close/>
                <a:moveTo>
                  <a:pt x="139898" y="35719"/>
                </a:moveTo>
                <a:cubicBezTo>
                  <a:pt x="148112" y="35719"/>
                  <a:pt x="154781" y="42388"/>
                  <a:pt x="154781" y="50602"/>
                </a:cubicBezTo>
                <a:cubicBezTo>
                  <a:pt x="154781" y="58816"/>
                  <a:pt x="148112" y="65484"/>
                  <a:pt x="139898" y="65484"/>
                </a:cubicBezTo>
                <a:cubicBezTo>
                  <a:pt x="131684" y="65484"/>
                  <a:pt x="125016" y="58816"/>
                  <a:pt x="125016" y="50602"/>
                </a:cubicBezTo>
                <a:cubicBezTo>
                  <a:pt x="125016" y="42388"/>
                  <a:pt x="131684" y="35719"/>
                  <a:pt x="139898" y="35719"/>
                </a:cubicBezTo>
                <a:close/>
              </a:path>
            </a:pathLst>
          </a:custGeom>
          <a:solidFill>
            <a:srgbClr val="F3F4F6"/>
          </a:solidFill>
          <a:ln/>
        </p:spPr>
      </p:sp>
      <p:sp>
        <p:nvSpPr>
          <p:cNvPr id="4" name="Text 2"/>
          <p:cNvSpPr/>
          <p:nvPr/>
        </p:nvSpPr>
        <p:spPr>
          <a:xfrm>
            <a:off x="990600" y="381000"/>
            <a:ext cx="1914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60" kern="0" dirty="0">
                <a:solidFill>
                  <a:srgbClr val="3C6E7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Summary of Findings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90600" y="609600"/>
            <a:ext cx="20097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3F4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Insights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4810" y="1223010"/>
            <a:ext cx="5627370" cy="1722120"/>
          </a:xfrm>
          <a:custGeom>
            <a:avLst/>
            <a:gdLst/>
            <a:ahLst/>
            <a:cxnLst/>
            <a:rect l="l" t="t" r="r" b="b"/>
            <a:pathLst>
              <a:path w="5627370" h="1722120">
                <a:moveTo>
                  <a:pt x="152408" y="0"/>
                </a:moveTo>
                <a:lnTo>
                  <a:pt x="5474962" y="0"/>
                </a:lnTo>
                <a:cubicBezTo>
                  <a:pt x="5559135" y="0"/>
                  <a:pt x="5627370" y="68235"/>
                  <a:pt x="5627370" y="152408"/>
                </a:cubicBezTo>
                <a:lnTo>
                  <a:pt x="5627370" y="1569712"/>
                </a:lnTo>
                <a:cubicBezTo>
                  <a:pt x="5627370" y="1653885"/>
                  <a:pt x="5559135" y="1722120"/>
                  <a:pt x="5474962" y="1722120"/>
                </a:cubicBezTo>
                <a:lnTo>
                  <a:pt x="152408" y="1722120"/>
                </a:lnTo>
                <a:cubicBezTo>
                  <a:pt x="68235" y="1722120"/>
                  <a:pt x="0" y="1653885"/>
                  <a:pt x="0" y="1569712"/>
                </a:cubicBezTo>
                <a:lnTo>
                  <a:pt x="0" y="152408"/>
                </a:lnTo>
                <a:cubicBezTo>
                  <a:pt x="0" y="68292"/>
                  <a:pt x="68292" y="0"/>
                  <a:pt x="152408" y="0"/>
                </a:cubicBezTo>
                <a:close/>
              </a:path>
            </a:pathLst>
          </a:custGeom>
          <a:gradFill rotWithShape="1" flip="none">
            <a:gsLst>
              <a:gs pos="0">
                <a:srgbClr val="3C6E71">
                  <a:alpha val="20000"/>
                </a:srgbClr>
              </a:gs>
              <a:gs pos="100000">
                <a:srgbClr val="3C6E71">
                  <a:alpha val="5000"/>
                </a:srgbClr>
              </a:gs>
            </a:gsLst>
            <a:lin ang="2700000" scaled="1"/>
          </a:gradFill>
          <a:ln w="10160">
            <a:solidFill>
              <a:srgbClr val="3C6E71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9120" y="141732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3C6E71"/>
          </a:solidFill>
          <a:ln/>
        </p:spPr>
      </p:sp>
      <p:sp>
        <p:nvSpPr>
          <p:cNvPr id="8" name="Text 6"/>
          <p:cNvSpPr/>
          <p:nvPr/>
        </p:nvSpPr>
        <p:spPr>
          <a:xfrm>
            <a:off x="715685" y="1512573"/>
            <a:ext cx="276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3F4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88720" y="1512573"/>
            <a:ext cx="1962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3F4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Food Category Impact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79120" y="1988823"/>
            <a:ext cx="53149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3F4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Certain food categories receive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F3F4F6"/>
                </a:solidFill>
                <a:highlight>
                  <a:srgbClr val="D97706">
                    <a:alpha val="3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significantly more engagement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F3F4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than others, indicating strong audience preferences for specific types of content.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176010" y="1223010"/>
            <a:ext cx="5627370" cy="1722120"/>
          </a:xfrm>
          <a:custGeom>
            <a:avLst/>
            <a:gdLst/>
            <a:ahLst/>
            <a:cxnLst/>
            <a:rect l="l" t="t" r="r" b="b"/>
            <a:pathLst>
              <a:path w="5627370" h="1722120">
                <a:moveTo>
                  <a:pt x="152408" y="0"/>
                </a:moveTo>
                <a:lnTo>
                  <a:pt x="5474962" y="0"/>
                </a:lnTo>
                <a:cubicBezTo>
                  <a:pt x="5559135" y="0"/>
                  <a:pt x="5627370" y="68235"/>
                  <a:pt x="5627370" y="152408"/>
                </a:cubicBezTo>
                <a:lnTo>
                  <a:pt x="5627370" y="1569712"/>
                </a:lnTo>
                <a:cubicBezTo>
                  <a:pt x="5627370" y="1653885"/>
                  <a:pt x="5559135" y="1722120"/>
                  <a:pt x="5474962" y="1722120"/>
                </a:cubicBezTo>
                <a:lnTo>
                  <a:pt x="152408" y="1722120"/>
                </a:lnTo>
                <a:cubicBezTo>
                  <a:pt x="68235" y="1722120"/>
                  <a:pt x="0" y="1653885"/>
                  <a:pt x="0" y="1569712"/>
                </a:cubicBezTo>
                <a:lnTo>
                  <a:pt x="0" y="152408"/>
                </a:lnTo>
                <a:cubicBezTo>
                  <a:pt x="0" y="68292"/>
                  <a:pt x="68292" y="0"/>
                  <a:pt x="152408" y="0"/>
                </a:cubicBezTo>
                <a:close/>
              </a:path>
            </a:pathLst>
          </a:custGeom>
          <a:gradFill rotWithShape="1" flip="none">
            <a:gsLst>
              <a:gs pos="0">
                <a:srgbClr val="D97706">
                  <a:alpha val="20000"/>
                </a:srgbClr>
              </a:gs>
              <a:gs pos="100000">
                <a:srgbClr val="D97706">
                  <a:alpha val="5000"/>
                </a:srgbClr>
              </a:gs>
            </a:gsLst>
            <a:lin ang="2700000" scaled="1"/>
          </a:gradFill>
          <a:ln w="10160">
            <a:solidFill>
              <a:srgbClr val="D97706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70320" y="141732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13" name="Text 11"/>
          <p:cNvSpPr/>
          <p:nvPr/>
        </p:nvSpPr>
        <p:spPr>
          <a:xfrm>
            <a:off x="6488549" y="1512573"/>
            <a:ext cx="314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979920" y="1512573"/>
            <a:ext cx="1714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3F4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Brand Performance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70320" y="1988823"/>
            <a:ext cx="53149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3F4F6"/>
                </a:solidFill>
                <a:highlight>
                  <a:srgbClr val="D97706">
                    <a:alpha val="3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Popular brands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F3F4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generate stronger audience interaction, demonstrating the importance of brand recognition and marketing effectiveness.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84810" y="3108960"/>
            <a:ext cx="5627370" cy="1722120"/>
          </a:xfrm>
          <a:custGeom>
            <a:avLst/>
            <a:gdLst/>
            <a:ahLst/>
            <a:cxnLst/>
            <a:rect l="l" t="t" r="r" b="b"/>
            <a:pathLst>
              <a:path w="5627370" h="1722120">
                <a:moveTo>
                  <a:pt x="152408" y="0"/>
                </a:moveTo>
                <a:lnTo>
                  <a:pt x="5474962" y="0"/>
                </a:lnTo>
                <a:cubicBezTo>
                  <a:pt x="5559135" y="0"/>
                  <a:pt x="5627370" y="68235"/>
                  <a:pt x="5627370" y="152408"/>
                </a:cubicBezTo>
                <a:lnTo>
                  <a:pt x="5627370" y="1569712"/>
                </a:lnTo>
                <a:cubicBezTo>
                  <a:pt x="5627370" y="1653885"/>
                  <a:pt x="5559135" y="1722120"/>
                  <a:pt x="5474962" y="1722120"/>
                </a:cubicBezTo>
                <a:lnTo>
                  <a:pt x="152408" y="1722120"/>
                </a:lnTo>
                <a:cubicBezTo>
                  <a:pt x="68235" y="1722120"/>
                  <a:pt x="0" y="1653885"/>
                  <a:pt x="0" y="1569712"/>
                </a:cubicBezTo>
                <a:lnTo>
                  <a:pt x="0" y="152408"/>
                </a:lnTo>
                <a:cubicBezTo>
                  <a:pt x="0" y="68292"/>
                  <a:pt x="68292" y="0"/>
                  <a:pt x="152408" y="0"/>
                </a:cubicBezTo>
                <a:close/>
              </a:path>
            </a:pathLst>
          </a:custGeom>
          <a:gradFill rotWithShape="1" flip="none">
            <a:gsLst>
              <a:gs pos="0">
                <a:srgbClr val="3C6E71">
                  <a:alpha val="20000"/>
                </a:srgbClr>
              </a:gs>
              <a:gs pos="100000">
                <a:srgbClr val="3C6E71">
                  <a:alpha val="5000"/>
                </a:srgbClr>
              </a:gs>
            </a:gsLst>
            <a:lin ang="2700000" scaled="1"/>
          </a:gradFill>
          <a:ln w="10160">
            <a:solidFill>
              <a:srgbClr val="3C6E71">
                <a:alpha val="4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79120" y="330327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3C6E71"/>
          </a:solidFill>
          <a:ln/>
        </p:spPr>
      </p:sp>
      <p:sp>
        <p:nvSpPr>
          <p:cNvPr id="18" name="Text 16"/>
          <p:cNvSpPr/>
          <p:nvPr/>
        </p:nvSpPr>
        <p:spPr>
          <a:xfrm>
            <a:off x="694849" y="3398523"/>
            <a:ext cx="323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3F4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88720" y="3398523"/>
            <a:ext cx="1990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3F4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Optimal Posting Times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79120" y="3874773"/>
            <a:ext cx="53149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3F4F6"/>
                </a:solidFill>
                <a:highlight>
                  <a:srgbClr val="D97706">
                    <a:alpha val="3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Posting time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F3F4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significantly affects engagement levels, with specific time windows showing higher audience activity and interaction rates.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176010" y="3108960"/>
            <a:ext cx="5627370" cy="1722120"/>
          </a:xfrm>
          <a:custGeom>
            <a:avLst/>
            <a:gdLst/>
            <a:ahLst/>
            <a:cxnLst/>
            <a:rect l="l" t="t" r="r" b="b"/>
            <a:pathLst>
              <a:path w="5627370" h="1722120">
                <a:moveTo>
                  <a:pt x="152408" y="0"/>
                </a:moveTo>
                <a:lnTo>
                  <a:pt x="5474962" y="0"/>
                </a:lnTo>
                <a:cubicBezTo>
                  <a:pt x="5559135" y="0"/>
                  <a:pt x="5627370" y="68235"/>
                  <a:pt x="5627370" y="152408"/>
                </a:cubicBezTo>
                <a:lnTo>
                  <a:pt x="5627370" y="1569712"/>
                </a:lnTo>
                <a:cubicBezTo>
                  <a:pt x="5627370" y="1653885"/>
                  <a:pt x="5559135" y="1722120"/>
                  <a:pt x="5474962" y="1722120"/>
                </a:cubicBezTo>
                <a:lnTo>
                  <a:pt x="152408" y="1722120"/>
                </a:lnTo>
                <a:cubicBezTo>
                  <a:pt x="68235" y="1722120"/>
                  <a:pt x="0" y="1653885"/>
                  <a:pt x="0" y="1569712"/>
                </a:cubicBezTo>
                <a:lnTo>
                  <a:pt x="0" y="152408"/>
                </a:lnTo>
                <a:cubicBezTo>
                  <a:pt x="0" y="68292"/>
                  <a:pt x="68292" y="0"/>
                  <a:pt x="152408" y="0"/>
                </a:cubicBezTo>
                <a:close/>
              </a:path>
            </a:pathLst>
          </a:custGeom>
          <a:gradFill rotWithShape="1" flip="none">
            <a:gsLst>
              <a:gs pos="0">
                <a:srgbClr val="D97706">
                  <a:alpha val="20000"/>
                </a:srgbClr>
              </a:gs>
              <a:gs pos="100000">
                <a:srgbClr val="D97706">
                  <a:alpha val="5000"/>
                </a:srgbClr>
              </a:gs>
            </a:gsLst>
            <a:lin ang="2700000" scaled="1"/>
          </a:gradFill>
          <a:ln w="10160">
            <a:solidFill>
              <a:srgbClr val="D97706">
                <a:alpha val="4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70320" y="330327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23" name="Text 21"/>
          <p:cNvSpPr/>
          <p:nvPr/>
        </p:nvSpPr>
        <p:spPr>
          <a:xfrm>
            <a:off x="6488668" y="3398523"/>
            <a:ext cx="314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979920" y="3398523"/>
            <a:ext cx="1419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3F4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Video vs. Image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370320" y="3874773"/>
            <a:ext cx="53149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3F4F6"/>
                </a:solidFill>
                <a:highlight>
                  <a:srgbClr val="D97706">
                    <a:alpha val="3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Video posts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F3F4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perform slightly better than image posts, suggesting audiences prefer dynamic content formats for food-related posts.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84810" y="4994910"/>
            <a:ext cx="11418570" cy="1474470"/>
          </a:xfrm>
          <a:custGeom>
            <a:avLst/>
            <a:gdLst/>
            <a:ahLst/>
            <a:cxnLst/>
            <a:rect l="l" t="t" r="r" b="b"/>
            <a:pathLst>
              <a:path w="11418570" h="1474470">
                <a:moveTo>
                  <a:pt x="152401" y="0"/>
                </a:moveTo>
                <a:lnTo>
                  <a:pt x="11266169" y="0"/>
                </a:lnTo>
                <a:cubicBezTo>
                  <a:pt x="11350338" y="0"/>
                  <a:pt x="11418570" y="68232"/>
                  <a:pt x="11418570" y="152401"/>
                </a:cubicBezTo>
                <a:lnTo>
                  <a:pt x="11418570" y="1322069"/>
                </a:lnTo>
                <a:cubicBezTo>
                  <a:pt x="11418570" y="1406238"/>
                  <a:pt x="11350338" y="1474470"/>
                  <a:pt x="11266169" y="1474470"/>
                </a:cubicBezTo>
                <a:lnTo>
                  <a:pt x="152401" y="1474470"/>
                </a:lnTo>
                <a:cubicBezTo>
                  <a:pt x="68289" y="1474470"/>
                  <a:pt x="0" y="1406181"/>
                  <a:pt x="0" y="1322069"/>
                </a:cubicBezTo>
                <a:lnTo>
                  <a:pt x="0" y="152401"/>
                </a:lnTo>
                <a:cubicBezTo>
                  <a:pt x="0" y="68289"/>
                  <a:pt x="68289" y="0"/>
                  <a:pt x="152401" y="0"/>
                </a:cubicBezTo>
                <a:close/>
              </a:path>
            </a:pathLst>
          </a:custGeom>
          <a:gradFill rotWithShape="1" flip="none">
            <a:gsLst>
              <a:gs pos="0">
                <a:srgbClr val="3C6E71">
                  <a:alpha val="20000"/>
                </a:srgbClr>
              </a:gs>
              <a:gs pos="100000">
                <a:srgbClr val="3C6E71">
                  <a:alpha val="5000"/>
                </a:srgbClr>
              </a:gs>
            </a:gsLst>
            <a:lin ang="2700000" scaled="1"/>
          </a:gradFill>
          <a:ln w="10160">
            <a:solidFill>
              <a:srgbClr val="3C6E71">
                <a:alpha val="4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79120" y="518922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3C6E71"/>
          </a:solidFill>
          <a:ln/>
        </p:spPr>
      </p:sp>
      <p:sp>
        <p:nvSpPr>
          <p:cNvPr id="28" name="Text 26"/>
          <p:cNvSpPr/>
          <p:nvPr/>
        </p:nvSpPr>
        <p:spPr>
          <a:xfrm>
            <a:off x="694611" y="5284473"/>
            <a:ext cx="323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3F4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188720" y="5284473"/>
            <a:ext cx="1790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3F4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Audience Sentiment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79120" y="5760723"/>
            <a:ext cx="111061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3F4F6"/>
                </a:solidFill>
                <a:highlight>
                  <a:srgbClr val="D97706">
                    <a:alpha val="3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Most reactions are positive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F3F4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across all food categories, indicating that food content generally evokes favorable emotional responses from audiences.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shutterstock.com/b085a1c90ce5ce4929a94a410f06a9aa6fb88147.jpg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rcRect l="0" r="0" t="6507" b="6507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1">
                  <a:alpha val="95000"/>
                </a:srgbClr>
              </a:gs>
              <a:gs pos="50000">
                <a:srgbClr val="1A1D21">
                  <a:alpha val="90000"/>
                </a:srgbClr>
              </a:gs>
              <a:gs pos="100000">
                <a:srgbClr val="3C6E71">
                  <a:alpha val="7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5714881" y="944882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152400" y="0"/>
                </a:moveTo>
                <a:lnTo>
                  <a:pt x="609600" y="0"/>
                </a:lnTo>
                <a:cubicBezTo>
                  <a:pt x="693712" y="0"/>
                  <a:pt x="762000" y="68288"/>
                  <a:pt x="762000" y="152400"/>
                </a:cubicBezTo>
                <a:lnTo>
                  <a:pt x="762000" y="609600"/>
                </a:lnTo>
                <a:cubicBezTo>
                  <a:pt x="762000" y="693712"/>
                  <a:pt x="693712" y="762000"/>
                  <a:pt x="609600" y="762000"/>
                </a:cubicBezTo>
                <a:lnTo>
                  <a:pt x="152400" y="762000"/>
                </a:lnTo>
                <a:cubicBezTo>
                  <a:pt x="68288" y="762000"/>
                  <a:pt x="0" y="693712"/>
                  <a:pt x="0" y="6096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5" name="Shape 2"/>
          <p:cNvSpPr/>
          <p:nvPr/>
        </p:nvSpPr>
        <p:spPr>
          <a:xfrm>
            <a:off x="5924431" y="1154432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171450" y="342900"/>
                </a:moveTo>
                <a:cubicBezTo>
                  <a:pt x="266076" y="342900"/>
                  <a:pt x="342900" y="266076"/>
                  <a:pt x="342900" y="171450"/>
                </a:cubicBezTo>
                <a:cubicBezTo>
                  <a:pt x="342900" y="76824"/>
                  <a:pt x="266076" y="0"/>
                  <a:pt x="171450" y="0"/>
                </a:cubicBezTo>
                <a:cubicBezTo>
                  <a:pt x="76824" y="0"/>
                  <a:pt x="0" y="76824"/>
                  <a:pt x="0" y="171450"/>
                </a:cubicBezTo>
                <a:cubicBezTo>
                  <a:pt x="0" y="266076"/>
                  <a:pt x="76824" y="342900"/>
                  <a:pt x="171450" y="342900"/>
                </a:cubicBezTo>
                <a:close/>
                <a:moveTo>
                  <a:pt x="227975" y="142451"/>
                </a:moveTo>
                <a:lnTo>
                  <a:pt x="174397" y="228176"/>
                </a:lnTo>
                <a:cubicBezTo>
                  <a:pt x="171584" y="232663"/>
                  <a:pt x="166762" y="235476"/>
                  <a:pt x="161471" y="235744"/>
                </a:cubicBezTo>
                <a:cubicBezTo>
                  <a:pt x="156180" y="236012"/>
                  <a:pt x="151090" y="233601"/>
                  <a:pt x="147943" y="229314"/>
                </a:cubicBezTo>
                <a:lnTo>
                  <a:pt x="115796" y="186452"/>
                </a:lnTo>
                <a:cubicBezTo>
                  <a:pt x="110438" y="179353"/>
                  <a:pt x="111911" y="169307"/>
                  <a:pt x="119010" y="163949"/>
                </a:cubicBezTo>
                <a:cubicBezTo>
                  <a:pt x="126110" y="158591"/>
                  <a:pt x="136155" y="160065"/>
                  <a:pt x="141513" y="167164"/>
                </a:cubicBezTo>
                <a:lnTo>
                  <a:pt x="159596" y="191274"/>
                </a:lnTo>
                <a:lnTo>
                  <a:pt x="200717" y="125440"/>
                </a:lnTo>
                <a:cubicBezTo>
                  <a:pt x="205405" y="117939"/>
                  <a:pt x="215317" y="115595"/>
                  <a:pt x="222885" y="120350"/>
                </a:cubicBezTo>
                <a:cubicBezTo>
                  <a:pt x="230453" y="125105"/>
                  <a:pt x="232730" y="134950"/>
                  <a:pt x="227975" y="142518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6" name="Text 3"/>
          <p:cNvSpPr/>
          <p:nvPr/>
        </p:nvSpPr>
        <p:spPr>
          <a:xfrm>
            <a:off x="4851440" y="1935482"/>
            <a:ext cx="24860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b="1" dirty="0">
                <a:solidFill>
                  <a:srgbClr val="F3F4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638681" y="2621282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8" name="Text 5"/>
          <p:cNvSpPr/>
          <p:nvPr/>
        </p:nvSpPr>
        <p:spPr>
          <a:xfrm>
            <a:off x="1771650" y="3116582"/>
            <a:ext cx="86487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800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Power BI visualization</a:t>
            </a:r>
            <a:pPr algn="ctr">
              <a:lnSpc>
                <a:spcPct val="140000"/>
              </a:lnSpc>
            </a:pPr>
            <a:r>
              <a:rPr lang="en-US" sz="1800" dirty="0">
                <a:solidFill>
                  <a:srgbClr val="F3F4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helps transform raw engagement data into </a:t>
            </a:r>
            <a:pPr algn="ctr">
              <a:lnSpc>
                <a:spcPct val="140000"/>
              </a:lnSpc>
            </a:pPr>
            <a:r>
              <a:rPr lang="en-US" sz="1800" dirty="0">
                <a:solidFill>
                  <a:srgbClr val="F3F4F6"/>
                </a:solidFill>
                <a:highlight>
                  <a:srgbClr val="3C6E71">
                    <a:alpha val="3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meaningful insights </a:t>
            </a:r>
            <a:pPr algn="ctr">
              <a:lnSpc>
                <a:spcPct val="140000"/>
              </a:lnSpc>
            </a:pPr>
            <a:r>
              <a:rPr lang="en-US" sz="1800" dirty="0">
                <a:solidFill>
                  <a:srgbClr val="F3F4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that can support marketing decisions and content strategies.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1832610" y="4168142"/>
            <a:ext cx="2684145" cy="1093470"/>
          </a:xfrm>
          <a:custGeom>
            <a:avLst/>
            <a:gdLst/>
            <a:ahLst/>
            <a:cxnLst/>
            <a:rect l="l" t="t" r="r" b="b"/>
            <a:pathLst>
              <a:path w="2684145" h="1093470">
                <a:moveTo>
                  <a:pt x="114300" y="0"/>
                </a:moveTo>
                <a:lnTo>
                  <a:pt x="2569845" y="0"/>
                </a:lnTo>
                <a:cubicBezTo>
                  <a:pt x="2632971" y="0"/>
                  <a:pt x="2684145" y="51174"/>
                  <a:pt x="2684145" y="114300"/>
                </a:cubicBezTo>
                <a:lnTo>
                  <a:pt x="2684145" y="979170"/>
                </a:lnTo>
                <a:cubicBezTo>
                  <a:pt x="2684145" y="1042296"/>
                  <a:pt x="2632971" y="1093470"/>
                  <a:pt x="2569845" y="1093470"/>
                </a:cubicBezTo>
                <a:lnTo>
                  <a:pt x="114300" y="1093470"/>
                </a:lnTo>
                <a:cubicBezTo>
                  <a:pt x="51174" y="1093470"/>
                  <a:pt x="0" y="1042296"/>
                  <a:pt x="0" y="97917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2A2E33">
              <a:alpha val="80000"/>
            </a:srgbClr>
          </a:solidFill>
          <a:ln w="10160">
            <a:solidFill>
              <a:srgbClr val="3C6E71">
                <a:alpha val="30196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034427" y="4400550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35719" y="35719"/>
                </a:moveTo>
                <a:cubicBezTo>
                  <a:pt x="35719" y="25840"/>
                  <a:pt x="27738" y="17859"/>
                  <a:pt x="17859" y="17859"/>
                </a:cubicBezTo>
                <a:cubicBezTo>
                  <a:pt x="7981" y="17859"/>
                  <a:pt x="0" y="25840"/>
                  <a:pt x="0" y="35719"/>
                </a:cubicBezTo>
                <a:lnTo>
                  <a:pt x="0" y="223242"/>
                </a:lnTo>
                <a:cubicBezTo>
                  <a:pt x="0" y="247910"/>
                  <a:pt x="19980" y="267891"/>
                  <a:pt x="44648" y="267891"/>
                </a:cubicBezTo>
                <a:lnTo>
                  <a:pt x="267891" y="267891"/>
                </a:lnTo>
                <a:cubicBezTo>
                  <a:pt x="277769" y="267891"/>
                  <a:pt x="285750" y="259910"/>
                  <a:pt x="285750" y="250031"/>
                </a:cubicBezTo>
                <a:cubicBezTo>
                  <a:pt x="285750" y="240153"/>
                  <a:pt x="277769" y="232172"/>
                  <a:pt x="267891" y="232172"/>
                </a:cubicBezTo>
                <a:lnTo>
                  <a:pt x="44648" y="232172"/>
                </a:lnTo>
                <a:cubicBezTo>
                  <a:pt x="39737" y="232172"/>
                  <a:pt x="35719" y="228154"/>
                  <a:pt x="35719" y="223242"/>
                </a:cubicBezTo>
                <a:lnTo>
                  <a:pt x="35719" y="35719"/>
                </a:lnTo>
                <a:close/>
                <a:moveTo>
                  <a:pt x="262644" y="84051"/>
                </a:moveTo>
                <a:cubicBezTo>
                  <a:pt x="269621" y="77074"/>
                  <a:pt x="269621" y="65745"/>
                  <a:pt x="262644" y="58769"/>
                </a:cubicBezTo>
                <a:cubicBezTo>
                  <a:pt x="255668" y="51792"/>
                  <a:pt x="244339" y="51792"/>
                  <a:pt x="237362" y="58769"/>
                </a:cubicBezTo>
                <a:lnTo>
                  <a:pt x="178594" y="117593"/>
                </a:lnTo>
                <a:lnTo>
                  <a:pt x="146558" y="85613"/>
                </a:lnTo>
                <a:cubicBezTo>
                  <a:pt x="139582" y="78637"/>
                  <a:pt x="128253" y="78637"/>
                  <a:pt x="121276" y="85613"/>
                </a:cubicBezTo>
                <a:lnTo>
                  <a:pt x="67698" y="139192"/>
                </a:lnTo>
                <a:cubicBezTo>
                  <a:pt x="60722" y="146168"/>
                  <a:pt x="60722" y="157497"/>
                  <a:pt x="67698" y="164474"/>
                </a:cubicBezTo>
                <a:cubicBezTo>
                  <a:pt x="74675" y="171450"/>
                  <a:pt x="86004" y="171450"/>
                  <a:pt x="92980" y="164474"/>
                </a:cubicBezTo>
                <a:lnTo>
                  <a:pt x="133945" y="123509"/>
                </a:lnTo>
                <a:lnTo>
                  <a:pt x="165981" y="155544"/>
                </a:lnTo>
                <a:cubicBezTo>
                  <a:pt x="172957" y="162520"/>
                  <a:pt x="184286" y="162520"/>
                  <a:pt x="191263" y="155544"/>
                </a:cubicBezTo>
                <a:lnTo>
                  <a:pt x="262700" y="84106"/>
                </a:lnTo>
                <a:close/>
              </a:path>
            </a:pathLst>
          </a:custGeom>
          <a:solidFill>
            <a:srgbClr val="3C6E71"/>
          </a:solidFill>
          <a:ln/>
        </p:spPr>
      </p:sp>
      <p:sp>
        <p:nvSpPr>
          <p:cNvPr id="11" name="Text 8"/>
          <p:cNvSpPr/>
          <p:nvPr/>
        </p:nvSpPr>
        <p:spPr>
          <a:xfrm>
            <a:off x="2026920" y="4800600"/>
            <a:ext cx="2295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3F4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Data-Driven Decisions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4753570" y="4168142"/>
            <a:ext cx="2684145" cy="1093470"/>
          </a:xfrm>
          <a:custGeom>
            <a:avLst/>
            <a:gdLst/>
            <a:ahLst/>
            <a:cxnLst/>
            <a:rect l="l" t="t" r="r" b="b"/>
            <a:pathLst>
              <a:path w="2684145" h="1093470">
                <a:moveTo>
                  <a:pt x="114300" y="0"/>
                </a:moveTo>
                <a:lnTo>
                  <a:pt x="2569845" y="0"/>
                </a:lnTo>
                <a:cubicBezTo>
                  <a:pt x="2632971" y="0"/>
                  <a:pt x="2684145" y="51174"/>
                  <a:pt x="2684145" y="114300"/>
                </a:cubicBezTo>
                <a:lnTo>
                  <a:pt x="2684145" y="979170"/>
                </a:lnTo>
                <a:cubicBezTo>
                  <a:pt x="2684145" y="1042296"/>
                  <a:pt x="2632971" y="1093470"/>
                  <a:pt x="2569845" y="1093470"/>
                </a:cubicBezTo>
                <a:lnTo>
                  <a:pt x="114300" y="1093470"/>
                </a:lnTo>
                <a:cubicBezTo>
                  <a:pt x="51174" y="1093470"/>
                  <a:pt x="0" y="1042296"/>
                  <a:pt x="0" y="97917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2A2E33">
              <a:alpha val="80000"/>
            </a:srgbClr>
          </a:solidFill>
          <a:ln w="10160">
            <a:solidFill>
              <a:srgbClr val="D97706">
                <a:alpha val="30196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955387" y="4400550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250031" y="142875"/>
                </a:moveTo>
                <a:cubicBezTo>
                  <a:pt x="250031" y="83734"/>
                  <a:pt x="202016" y="35719"/>
                  <a:pt x="142875" y="35719"/>
                </a:cubicBezTo>
                <a:cubicBezTo>
                  <a:pt x="83734" y="35719"/>
                  <a:pt x="35719" y="83734"/>
                  <a:pt x="35719" y="142875"/>
                </a:cubicBezTo>
                <a:cubicBezTo>
                  <a:pt x="35719" y="202016"/>
                  <a:pt x="83734" y="250031"/>
                  <a:pt x="142875" y="250031"/>
                </a:cubicBezTo>
                <a:cubicBezTo>
                  <a:pt x="202016" y="250031"/>
                  <a:pt x="250031" y="202016"/>
                  <a:pt x="250031" y="142875"/>
                </a:cubicBezTo>
                <a:close/>
                <a:moveTo>
                  <a:pt x="0" y="142875"/>
                </a:moveTo>
                <a:cubicBezTo>
                  <a:pt x="0" y="64020"/>
                  <a:pt x="64020" y="0"/>
                  <a:pt x="142875" y="0"/>
                </a:cubicBezTo>
                <a:cubicBezTo>
                  <a:pt x="221730" y="0"/>
                  <a:pt x="285750" y="64020"/>
                  <a:pt x="285750" y="142875"/>
                </a:cubicBezTo>
                <a:cubicBezTo>
                  <a:pt x="285750" y="221730"/>
                  <a:pt x="221730" y="285750"/>
                  <a:pt x="142875" y="285750"/>
                </a:cubicBezTo>
                <a:cubicBezTo>
                  <a:pt x="64020" y="285750"/>
                  <a:pt x="0" y="221730"/>
                  <a:pt x="0" y="142875"/>
                </a:cubicBezTo>
                <a:close/>
                <a:moveTo>
                  <a:pt x="142875" y="187523"/>
                </a:moveTo>
                <a:cubicBezTo>
                  <a:pt x="167517" y="187523"/>
                  <a:pt x="187523" y="167517"/>
                  <a:pt x="187523" y="142875"/>
                </a:cubicBezTo>
                <a:cubicBezTo>
                  <a:pt x="187523" y="118233"/>
                  <a:pt x="167517" y="98227"/>
                  <a:pt x="142875" y="98227"/>
                </a:cubicBezTo>
                <a:cubicBezTo>
                  <a:pt x="118233" y="98227"/>
                  <a:pt x="98227" y="118233"/>
                  <a:pt x="98227" y="142875"/>
                </a:cubicBezTo>
                <a:cubicBezTo>
                  <a:pt x="98227" y="167517"/>
                  <a:pt x="118233" y="187523"/>
                  <a:pt x="142875" y="187523"/>
                </a:cubicBezTo>
                <a:close/>
                <a:moveTo>
                  <a:pt x="142875" y="62508"/>
                </a:moveTo>
                <a:cubicBezTo>
                  <a:pt x="187231" y="62508"/>
                  <a:pt x="223242" y="98519"/>
                  <a:pt x="223242" y="142875"/>
                </a:cubicBezTo>
                <a:cubicBezTo>
                  <a:pt x="223242" y="187231"/>
                  <a:pt x="187231" y="223242"/>
                  <a:pt x="142875" y="223242"/>
                </a:cubicBezTo>
                <a:cubicBezTo>
                  <a:pt x="98519" y="223242"/>
                  <a:pt x="62508" y="187231"/>
                  <a:pt x="62508" y="142875"/>
                </a:cubicBezTo>
                <a:cubicBezTo>
                  <a:pt x="62508" y="98519"/>
                  <a:pt x="98519" y="62508"/>
                  <a:pt x="142875" y="62508"/>
                </a:cubicBezTo>
                <a:close/>
                <a:moveTo>
                  <a:pt x="125016" y="142875"/>
                </a:moveTo>
                <a:cubicBezTo>
                  <a:pt x="125016" y="133018"/>
                  <a:pt x="133018" y="125016"/>
                  <a:pt x="142875" y="125016"/>
                </a:cubicBezTo>
                <a:cubicBezTo>
                  <a:pt x="152732" y="125016"/>
                  <a:pt x="160734" y="133018"/>
                  <a:pt x="160734" y="142875"/>
                </a:cubicBezTo>
                <a:cubicBezTo>
                  <a:pt x="160734" y="152732"/>
                  <a:pt x="152732" y="160734"/>
                  <a:pt x="142875" y="160734"/>
                </a:cubicBezTo>
                <a:cubicBezTo>
                  <a:pt x="133018" y="160734"/>
                  <a:pt x="125016" y="152732"/>
                  <a:pt x="125016" y="142875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14" name="Text 11"/>
          <p:cNvSpPr/>
          <p:nvPr/>
        </p:nvSpPr>
        <p:spPr>
          <a:xfrm>
            <a:off x="4947881" y="4800600"/>
            <a:ext cx="2295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3F4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Strategic Insights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7674531" y="4168142"/>
            <a:ext cx="2684145" cy="1093470"/>
          </a:xfrm>
          <a:custGeom>
            <a:avLst/>
            <a:gdLst/>
            <a:ahLst/>
            <a:cxnLst/>
            <a:rect l="l" t="t" r="r" b="b"/>
            <a:pathLst>
              <a:path w="2684145" h="1093470">
                <a:moveTo>
                  <a:pt x="114300" y="0"/>
                </a:moveTo>
                <a:lnTo>
                  <a:pt x="2569845" y="0"/>
                </a:lnTo>
                <a:cubicBezTo>
                  <a:pt x="2632971" y="0"/>
                  <a:pt x="2684145" y="51174"/>
                  <a:pt x="2684145" y="114300"/>
                </a:cubicBezTo>
                <a:lnTo>
                  <a:pt x="2684145" y="979170"/>
                </a:lnTo>
                <a:cubicBezTo>
                  <a:pt x="2684145" y="1042296"/>
                  <a:pt x="2632971" y="1093470"/>
                  <a:pt x="2569845" y="1093470"/>
                </a:cubicBezTo>
                <a:lnTo>
                  <a:pt x="114300" y="1093470"/>
                </a:lnTo>
                <a:cubicBezTo>
                  <a:pt x="51174" y="1093470"/>
                  <a:pt x="0" y="1042296"/>
                  <a:pt x="0" y="97917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2A2E33">
              <a:alpha val="80000"/>
            </a:srgbClr>
          </a:solidFill>
          <a:ln w="10160">
            <a:solidFill>
              <a:srgbClr val="3C6E71">
                <a:alpha val="30196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876467" y="4400550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71438" y="178594"/>
                </a:moveTo>
                <a:lnTo>
                  <a:pt x="13674" y="178594"/>
                </a:lnTo>
                <a:cubicBezTo>
                  <a:pt x="-223" y="178594"/>
                  <a:pt x="-8762" y="163469"/>
                  <a:pt x="-1619" y="151526"/>
                </a:cubicBezTo>
                <a:lnTo>
                  <a:pt x="27905" y="102301"/>
                </a:lnTo>
                <a:cubicBezTo>
                  <a:pt x="32761" y="94208"/>
                  <a:pt x="41467" y="89297"/>
                  <a:pt x="50899" y="89297"/>
                </a:cubicBezTo>
                <a:lnTo>
                  <a:pt x="103919" y="89297"/>
                </a:lnTo>
                <a:cubicBezTo>
                  <a:pt x="146391" y="17357"/>
                  <a:pt x="209736" y="13729"/>
                  <a:pt x="252096" y="19924"/>
                </a:cubicBezTo>
                <a:cubicBezTo>
                  <a:pt x="259240" y="20985"/>
                  <a:pt x="264821" y="26566"/>
                  <a:pt x="265826" y="33654"/>
                </a:cubicBezTo>
                <a:cubicBezTo>
                  <a:pt x="272021" y="76014"/>
                  <a:pt x="268393" y="139359"/>
                  <a:pt x="196453" y="181831"/>
                </a:cubicBezTo>
                <a:lnTo>
                  <a:pt x="196453" y="234851"/>
                </a:lnTo>
                <a:cubicBezTo>
                  <a:pt x="196453" y="244283"/>
                  <a:pt x="191542" y="252989"/>
                  <a:pt x="183449" y="257845"/>
                </a:cubicBezTo>
                <a:lnTo>
                  <a:pt x="134224" y="287369"/>
                </a:lnTo>
                <a:cubicBezTo>
                  <a:pt x="122337" y="294512"/>
                  <a:pt x="107156" y="285917"/>
                  <a:pt x="107156" y="272076"/>
                </a:cubicBezTo>
                <a:lnTo>
                  <a:pt x="107156" y="214313"/>
                </a:lnTo>
                <a:cubicBezTo>
                  <a:pt x="107156" y="194611"/>
                  <a:pt x="91139" y="178594"/>
                  <a:pt x="71438" y="178594"/>
                </a:cubicBezTo>
                <a:lnTo>
                  <a:pt x="71382" y="178594"/>
                </a:lnTo>
                <a:close/>
                <a:moveTo>
                  <a:pt x="223242" y="89297"/>
                </a:moveTo>
                <a:cubicBezTo>
                  <a:pt x="223242" y="74512"/>
                  <a:pt x="211238" y="62508"/>
                  <a:pt x="196453" y="62508"/>
                </a:cubicBezTo>
                <a:cubicBezTo>
                  <a:pt x="181668" y="62508"/>
                  <a:pt x="169664" y="74512"/>
                  <a:pt x="169664" y="89297"/>
                </a:cubicBezTo>
                <a:cubicBezTo>
                  <a:pt x="169664" y="104082"/>
                  <a:pt x="181668" y="116086"/>
                  <a:pt x="196453" y="116086"/>
                </a:cubicBezTo>
                <a:cubicBezTo>
                  <a:pt x="211238" y="116086"/>
                  <a:pt x="223242" y="104082"/>
                  <a:pt x="223242" y="89297"/>
                </a:cubicBezTo>
                <a:close/>
              </a:path>
            </a:pathLst>
          </a:custGeom>
          <a:solidFill>
            <a:srgbClr val="3C6E71"/>
          </a:solidFill>
          <a:ln/>
        </p:spPr>
      </p:sp>
      <p:sp>
        <p:nvSpPr>
          <p:cNvPr id="17" name="Text 14"/>
          <p:cNvSpPr/>
          <p:nvPr/>
        </p:nvSpPr>
        <p:spPr>
          <a:xfrm>
            <a:off x="7868841" y="4800600"/>
            <a:ext cx="2295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3F4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Optimized Content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5004911" y="5646423"/>
            <a:ext cx="2181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Thank you for your attention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Facebook Food Trends Engagement Dashboard</dc:title>
  <dc:subject>Facebook Food Trends Engagement Dashboard</dc:subject>
  <dc:creator>Kimi</dc:creator>
  <cp:lastModifiedBy>Kimi</cp:lastModifiedBy>
  <cp:revision>1</cp:revision>
  <dcterms:created xsi:type="dcterms:W3CDTF">2026-03-06T12:43:20Z</dcterms:created>
  <dcterms:modified xsi:type="dcterms:W3CDTF">2026-03-06T12:43:20Z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{"Label":"Facebook Food Trends Engagement Dashboard","ContentProducer":"001191110108MACG2KBH8F10000","ProduceID":"19cc323d-dac2-8436-8000-0000c35966db","ReservedCode1":"","ContentPropagator":"001191110108MACG2KBH8F20000","PropagateID":"19cc323d-dac2-8436-8000-0000c35966db","ReservedCode2":""}</vt:lpwstr>
  </property>
</Properties>
</file>